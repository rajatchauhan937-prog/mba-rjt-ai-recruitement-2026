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 id="263" r:id="rId9"/>
    <p:sldId id="264" r:id="rId10"/>
    <p:sldId id="265" r:id="rId11"/>
    <p:sldId id="284" r:id="rId12"/>
    <p:sldId id="285" r:id="rId13"/>
    <p:sldId id="286" r:id="rId14"/>
    <p:sldId id="287" r:id="rId15"/>
    <p:sldId id="288" r:id="rId16"/>
    <p:sldId id="289" r:id="rId17"/>
    <p:sldId id="290"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9" d="100"/>
          <a:sy n="69" d="100"/>
        </p:scale>
        <p:origin x="-1416" y="-90"/>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3" name="Rectangle 22"/>
          <p:cNvSpPr/>
          <p:nvPr/>
        </p:nvSpPr>
        <p:spPr>
          <a:xfrm flipV="1">
            <a:off x="5410182" y="3810000"/>
            <a:ext cx="3733819" cy="91087"/>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4" name="Rectangle 23"/>
          <p:cNvSpPr/>
          <p:nvPr/>
        </p:nvSpPr>
        <p:spPr>
          <a:xfrm flipV="1">
            <a:off x="5410200" y="3897010"/>
            <a:ext cx="3733801" cy="192024"/>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5" name="Rectangle 24"/>
          <p:cNvSpPr/>
          <p:nvPr/>
        </p:nvSpPr>
        <p:spPr>
          <a:xfrm flipV="1">
            <a:off x="5410200" y="4115167"/>
            <a:ext cx="3733801" cy="9144"/>
          </a:xfrm>
          <a:prstGeom prst="rect">
            <a:avLst/>
          </a:prstGeom>
          <a:solidFill>
            <a:schemeClr val="accent2">
              <a:alpha val="6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6" name="Rectangle 25"/>
          <p:cNvSpPr/>
          <p:nvPr/>
        </p:nvSpPr>
        <p:spPr>
          <a:xfrm flipV="1">
            <a:off x="5410200" y="4164403"/>
            <a:ext cx="1965960" cy="1828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7" name="Rectangle 26"/>
          <p:cNvSpPr/>
          <p:nvPr/>
        </p:nvSpPr>
        <p:spPr>
          <a:xfrm flipV="1">
            <a:off x="5410200" y="4199572"/>
            <a:ext cx="1965960" cy="9144"/>
          </a:xfrm>
          <a:prstGeom prst="rect">
            <a:avLst/>
          </a:prstGeom>
          <a:solidFill>
            <a:schemeClr val="accent2">
              <a:alpha val="6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useBgFill="1">
        <p:nvSpPr>
          <p:cNvPr id="30" name="Rounded Rectangle 29"/>
          <p:cNvSpPr/>
          <p:nvPr/>
        </p:nvSpPr>
        <p:spPr bwMode="white">
          <a:xfrm>
            <a:off x="5410200" y="3962400"/>
            <a:ext cx="3063240" cy="27432"/>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useBgFill="1">
        <p:nvSpPr>
          <p:cNvPr id="31" name="Rounded Rectangle 30"/>
          <p:cNvSpPr/>
          <p:nvPr/>
        </p:nvSpPr>
        <p:spPr bwMode="white">
          <a:xfrm>
            <a:off x="7376507" y="4060983"/>
            <a:ext cx="1600200" cy="36576"/>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Rectangle 6"/>
          <p:cNvSpPr/>
          <p:nvPr/>
        </p:nvSpPr>
        <p:spPr>
          <a:xfrm>
            <a:off x="1" y="3649662"/>
            <a:ext cx="9144000" cy="244170"/>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0" y="3675527"/>
            <a:ext cx="9144001" cy="140677"/>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Rectangle 10"/>
          <p:cNvSpPr/>
          <p:nvPr/>
        </p:nvSpPr>
        <p:spPr>
          <a:xfrm flipV="1">
            <a:off x="6414051" y="3643090"/>
            <a:ext cx="2729950" cy="248432"/>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9" name="Rectangle 18"/>
          <p:cNvSpPr/>
          <p:nvPr/>
        </p:nvSpPr>
        <p:spPr>
          <a:xfrm>
            <a:off x="0" y="0"/>
            <a:ext cx="9144000" cy="3701700"/>
          </a:xfrm>
          <a:prstGeom prst="rect">
            <a:avLst/>
          </a:prstGeom>
          <a:solidFill>
            <a:schemeClr val="tx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Title 7"/>
          <p:cNvSpPr>
            <a:spLocks noGrp="1"/>
          </p:cNvSpPr>
          <p:nvPr>
            <p:ph type="ctrTitle"/>
          </p:nvPr>
        </p:nvSpPr>
        <p:spPr>
          <a:xfrm>
            <a:off x="457200" y="2401887"/>
            <a:ext cx="8458200" cy="1470025"/>
          </a:xfrm>
        </p:spPr>
        <p:txBody>
          <a:bodyPr anchor="b"/>
          <a:lstStyle>
            <a:lvl1pPr>
              <a:defRPr sz="4400">
                <a:solidFill>
                  <a:schemeClr val="bg1"/>
                </a:solidFill>
              </a:defRPr>
            </a:lvl1pPr>
          </a:lstStyle>
          <a:p>
            <a:r>
              <a:rPr kumimoji="0" lang="en-US" smtClean="0"/>
              <a:t>Click to edit Master title style</a:t>
            </a:r>
            <a:endParaRPr kumimoji="0" lang="en-US"/>
          </a:p>
        </p:txBody>
      </p:sp>
      <p:sp>
        <p:nvSpPr>
          <p:cNvPr id="9" name="Subtitle 8"/>
          <p:cNvSpPr>
            <a:spLocks noGrp="1"/>
          </p:cNvSpPr>
          <p:nvPr>
            <p:ph type="subTitle" idx="1"/>
          </p:nvPr>
        </p:nvSpPr>
        <p:spPr>
          <a:xfrm>
            <a:off x="457200" y="3899938"/>
            <a:ext cx="4953000" cy="1752600"/>
          </a:xfrm>
        </p:spPr>
        <p:txBody>
          <a:bodyPr/>
          <a:lstStyle>
            <a:lvl1pPr marL="64008" indent="0" algn="l">
              <a:buNone/>
              <a:defRPr sz="240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smtClean="0"/>
              <a:t>Click to edit Master subtitle style</a:t>
            </a:r>
            <a:endParaRPr kumimoji="0" lang="en-US"/>
          </a:p>
        </p:txBody>
      </p:sp>
      <p:sp>
        <p:nvSpPr>
          <p:cNvPr id="28" name="Date Placeholder 27"/>
          <p:cNvSpPr>
            <a:spLocks noGrp="1"/>
          </p:cNvSpPr>
          <p:nvPr>
            <p:ph type="dt" sz="half" idx="10"/>
          </p:nvPr>
        </p:nvSpPr>
        <p:spPr>
          <a:xfrm>
            <a:off x="6705600" y="4206240"/>
            <a:ext cx="960120" cy="457200"/>
          </a:xfrm>
        </p:spPr>
        <p:txBody>
          <a:bodyPr/>
          <a:lstStyle/>
          <a:p>
            <a:fld id="{F40B8F82-E9ED-4A79-A58C-00A3958E7D03}" type="datetimeFigureOut">
              <a:rPr lang="en-IN" smtClean="0"/>
              <a:t>19-04-2026</a:t>
            </a:fld>
            <a:endParaRPr lang="en-IN"/>
          </a:p>
        </p:txBody>
      </p:sp>
      <p:sp>
        <p:nvSpPr>
          <p:cNvPr id="17" name="Footer Placeholder 16"/>
          <p:cNvSpPr>
            <a:spLocks noGrp="1"/>
          </p:cNvSpPr>
          <p:nvPr>
            <p:ph type="ftr" sz="quarter" idx="11"/>
          </p:nvPr>
        </p:nvSpPr>
        <p:spPr>
          <a:xfrm>
            <a:off x="5410200" y="4205288"/>
            <a:ext cx="1295400" cy="457200"/>
          </a:xfrm>
        </p:spPr>
        <p:txBody>
          <a:bodyPr/>
          <a:lstStyle/>
          <a:p>
            <a:endParaRPr lang="en-IN"/>
          </a:p>
        </p:txBody>
      </p:sp>
      <p:sp>
        <p:nvSpPr>
          <p:cNvPr id="29" name="Slide Number Placeholder 28"/>
          <p:cNvSpPr>
            <a:spLocks noGrp="1"/>
          </p:cNvSpPr>
          <p:nvPr>
            <p:ph type="sldNum" sz="quarter" idx="12"/>
          </p:nvPr>
        </p:nvSpPr>
        <p:spPr>
          <a:xfrm>
            <a:off x="8320088" y="1136"/>
            <a:ext cx="747712" cy="365760"/>
          </a:xfrm>
        </p:spPr>
        <p:txBody>
          <a:bodyPr/>
          <a:lstStyle>
            <a:lvl1pPr algn="r">
              <a:defRPr sz="1800">
                <a:solidFill>
                  <a:schemeClr val="bg1"/>
                </a:solidFill>
              </a:defRPr>
            </a:lvl1pPr>
          </a:lstStyle>
          <a:p>
            <a:fld id="{032EA6E1-BBE2-457B-A100-14FF31EF3EDC}" type="slidenum">
              <a:rPr lang="en-IN" smtClean="0"/>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Content Placeholder 2"/>
          <p:cNvSpPr>
            <a:spLocks noGrp="1"/>
          </p:cNvSpPr>
          <p:nvPr>
            <p:ph idx="1"/>
          </p:nvPr>
        </p:nvSpPr>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F40B8F82-E9ED-4A79-A58C-00A3958E7D03}" type="datetimeFigureOut">
              <a:rPr lang="en-IN" smtClean="0"/>
              <a:t>19-04-2026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32EA6E1-BBE2-457B-A100-14FF31EF3EDC}" type="slidenum">
              <a:rPr lang="en-IN" smtClean="0"/>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1981200"/>
            <a:ext cx="7772400" cy="1362075"/>
          </a:xfrm>
        </p:spPr>
        <p:txBody>
          <a:bodyPr anchor="b">
            <a:noAutofit/>
          </a:bodyPr>
          <a:lstStyle>
            <a:lvl1pPr algn="l">
              <a:buNone/>
              <a:defRPr sz="4300" b="1" cap="none" baseline="0">
                <a:ln w="12700">
                  <a:solidFill>
                    <a:schemeClr val="accent2">
                      <a:shade val="90000"/>
                      <a:satMod val="150000"/>
                    </a:schemeClr>
                  </a:solidFill>
                </a:ln>
                <a:solidFill>
                  <a:srgbClr val="FFFFFF"/>
                </a:solidFill>
                <a:effectLst>
                  <a:outerShdw blurRad="38100" dist="38100" dir="5400000" algn="tl" rotWithShape="0">
                    <a:srgbClr val="000000">
                      <a:alpha val="25000"/>
                    </a:srgbClr>
                  </a:outerShdw>
                </a:effectLst>
              </a:defRPr>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722313" y="3367088"/>
            <a:ext cx="7772400" cy="1509712"/>
          </a:xfrm>
        </p:spPr>
        <p:txBody>
          <a:bodyPr anchor="t"/>
          <a:lstStyle>
            <a:lvl1pPr marL="45720" indent="0">
              <a:buNone/>
              <a:defRPr sz="2100" b="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smtClean="0"/>
              <a:t>Click to edit Master text styles</a:t>
            </a:r>
          </a:p>
        </p:txBody>
      </p:sp>
      <p:sp>
        <p:nvSpPr>
          <p:cNvPr id="4" name="Date Placeholder 3"/>
          <p:cNvSpPr>
            <a:spLocks noGrp="1"/>
          </p:cNvSpPr>
          <p:nvPr>
            <p:ph type="dt" sz="half" idx="10"/>
          </p:nvPr>
        </p:nvSpPr>
        <p:spPr/>
        <p:txBody>
          <a:bodyPr/>
          <a:lstStyle/>
          <a:p>
            <a:fld id="{F40B8F82-E9ED-4A79-A58C-00A3958E7D03}" type="datetimeFigureOut">
              <a:rPr lang="en-IN" smtClean="0"/>
              <a:t>19-04-2026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32EA6E1-BBE2-457B-A100-14FF31EF3EDC}" type="slidenum">
              <a:rPr lang="en-IN" smtClean="0"/>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Content Placeholder 2"/>
          <p:cNvSpPr>
            <a:spLocks noGrp="1"/>
          </p:cNvSpPr>
          <p:nvPr>
            <p:ph sz="half" idx="1"/>
          </p:nvPr>
        </p:nvSpPr>
        <p:spPr>
          <a:xfrm>
            <a:off x="457200" y="2249424"/>
            <a:ext cx="4038600" cy="4525963"/>
          </a:xfrm>
        </p:spPr>
        <p:txBody>
          <a:bodyPr/>
          <a:lstStyle>
            <a:lvl1pPr>
              <a:defRPr sz="2000"/>
            </a:lvl1pPr>
            <a:lvl2pPr>
              <a:defRPr sz="1900"/>
            </a:lvl2pPr>
            <a:lvl3pPr>
              <a:defRPr sz="1800"/>
            </a:lvl3pPr>
            <a:lvl4pPr>
              <a:defRPr sz="1800"/>
            </a:lvl4pPr>
            <a:lvl5pPr>
              <a:defRPr sz="18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Content Placeholder 3"/>
          <p:cNvSpPr>
            <a:spLocks noGrp="1"/>
          </p:cNvSpPr>
          <p:nvPr>
            <p:ph sz="half" idx="2"/>
          </p:nvPr>
        </p:nvSpPr>
        <p:spPr>
          <a:xfrm>
            <a:off x="4648200" y="2249424"/>
            <a:ext cx="4038600" cy="4525963"/>
          </a:xfrm>
        </p:spPr>
        <p:txBody>
          <a:bodyPr/>
          <a:lstStyle>
            <a:lvl1pPr>
              <a:defRPr sz="2000"/>
            </a:lvl1pPr>
            <a:lvl2pPr>
              <a:defRPr sz="1900"/>
            </a:lvl2pPr>
            <a:lvl3pPr>
              <a:defRPr sz="1800"/>
            </a:lvl3pPr>
            <a:lvl4pPr>
              <a:defRPr sz="1800"/>
            </a:lvl4pPr>
            <a:lvl5pPr>
              <a:defRPr sz="18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p>
            <a:fld id="{F40B8F82-E9ED-4A79-A58C-00A3958E7D03}" type="datetimeFigureOut">
              <a:rPr lang="en-IN" smtClean="0"/>
              <a:t>19-04-2026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32EA6E1-BBE2-457B-A100-14FF31EF3EDC}" type="slidenum">
              <a:rPr lang="en-IN" smtClean="0"/>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81000" y="1143000"/>
            <a:ext cx="8382000" cy="1069848"/>
          </a:xfrm>
        </p:spPr>
        <p:txBody>
          <a:bodyPr anchor="ctr"/>
          <a:lstStyle>
            <a:lvl1pPr>
              <a:defRPr sz="4000" b="0" i="0" cap="none" baseline="0"/>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381000" y="2244970"/>
            <a:ext cx="4041648" cy="457200"/>
          </a:xfrm>
          <a:solidFill>
            <a:schemeClr val="accent2">
              <a:satMod val="150000"/>
              <a:alpha val="25000"/>
            </a:schemeClr>
          </a:solidFill>
          <a:ln w="12700">
            <a:solidFill>
              <a:schemeClr val="accent2"/>
            </a:solidFill>
          </a:ln>
        </p:spPr>
        <p:txBody>
          <a:bodyPr anchor="ctr">
            <a:noAutofit/>
          </a:bodyPr>
          <a:lstStyle>
            <a:lvl1pPr marL="45720" indent="0">
              <a:buNone/>
              <a:defRPr sz="1900" b="1">
                <a:solidFill>
                  <a:schemeClr val="tx1">
                    <a:tint val="95000"/>
                  </a:schemeClr>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4" name="Text Placeholder 3"/>
          <p:cNvSpPr>
            <a:spLocks noGrp="1"/>
          </p:cNvSpPr>
          <p:nvPr>
            <p:ph type="body" sz="half" idx="3"/>
          </p:nvPr>
        </p:nvSpPr>
        <p:spPr>
          <a:xfrm>
            <a:off x="4721225" y="2244970"/>
            <a:ext cx="4041775" cy="457200"/>
          </a:xfrm>
          <a:solidFill>
            <a:schemeClr val="accent2">
              <a:satMod val="150000"/>
              <a:alpha val="25000"/>
            </a:schemeClr>
          </a:solidFill>
          <a:ln w="12700">
            <a:solidFill>
              <a:schemeClr val="accent2"/>
            </a:solidFill>
          </a:ln>
        </p:spPr>
        <p:txBody>
          <a:bodyPr anchor="ctr">
            <a:noAutofit/>
          </a:bodyPr>
          <a:lstStyle>
            <a:lvl1pPr marL="45720" indent="0">
              <a:buNone/>
              <a:defRPr sz="1900" b="1">
                <a:solidFill>
                  <a:schemeClr val="tx1">
                    <a:tint val="95000"/>
                  </a:schemeClr>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5" name="Content Placeholder 4"/>
          <p:cNvSpPr>
            <a:spLocks noGrp="1"/>
          </p:cNvSpPr>
          <p:nvPr>
            <p:ph sz="quarter" idx="2"/>
          </p:nvPr>
        </p:nvSpPr>
        <p:spPr>
          <a:xfrm>
            <a:off x="381000" y="2708519"/>
            <a:ext cx="4041648" cy="3886200"/>
          </a:xfrm>
        </p:spPr>
        <p:txBody>
          <a:bodyPr/>
          <a:lstStyle>
            <a:lvl1pPr>
              <a:defRPr sz="2000"/>
            </a:lvl1pPr>
            <a:lvl2pPr>
              <a:defRPr sz="2000"/>
            </a:lvl2pPr>
            <a:lvl3pPr>
              <a:defRPr sz="1800"/>
            </a:lvl3pPr>
            <a:lvl4pPr>
              <a:defRPr sz="1600"/>
            </a:lvl4pPr>
            <a:lvl5pPr>
              <a:defRPr sz="16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6" name="Content Placeholder 5"/>
          <p:cNvSpPr>
            <a:spLocks noGrp="1"/>
          </p:cNvSpPr>
          <p:nvPr>
            <p:ph sz="quarter" idx="4"/>
          </p:nvPr>
        </p:nvSpPr>
        <p:spPr>
          <a:xfrm>
            <a:off x="4718304" y="2708519"/>
            <a:ext cx="4041775" cy="3886200"/>
          </a:xfrm>
        </p:spPr>
        <p:txBody>
          <a:bodyPr/>
          <a:lstStyle>
            <a:lvl1pPr>
              <a:defRPr sz="2000"/>
            </a:lvl1pPr>
            <a:lvl2pPr>
              <a:defRPr sz="2000"/>
            </a:lvl2pPr>
            <a:lvl3pPr>
              <a:defRPr sz="1800"/>
            </a:lvl3pPr>
            <a:lvl4pPr>
              <a:defRPr sz="1600"/>
            </a:lvl4pPr>
            <a:lvl5pPr>
              <a:defRPr sz="16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26" name="Date Placeholder 25"/>
          <p:cNvSpPr>
            <a:spLocks noGrp="1"/>
          </p:cNvSpPr>
          <p:nvPr>
            <p:ph type="dt" sz="half" idx="10"/>
          </p:nvPr>
        </p:nvSpPr>
        <p:spPr/>
        <p:txBody>
          <a:bodyPr rtlCol="0"/>
          <a:lstStyle/>
          <a:p>
            <a:fld id="{F40B8F82-E9ED-4A79-A58C-00A3958E7D03}" type="datetimeFigureOut">
              <a:rPr lang="en-IN" smtClean="0"/>
              <a:t>19-04-2026</a:t>
            </a:fld>
            <a:endParaRPr lang="en-IN"/>
          </a:p>
        </p:txBody>
      </p:sp>
      <p:sp>
        <p:nvSpPr>
          <p:cNvPr id="27" name="Slide Number Placeholder 26"/>
          <p:cNvSpPr>
            <a:spLocks noGrp="1"/>
          </p:cNvSpPr>
          <p:nvPr>
            <p:ph type="sldNum" sz="quarter" idx="11"/>
          </p:nvPr>
        </p:nvSpPr>
        <p:spPr/>
        <p:txBody>
          <a:bodyPr rtlCol="0"/>
          <a:lstStyle/>
          <a:p>
            <a:fld id="{032EA6E1-BBE2-457B-A100-14FF31EF3EDC}" type="slidenum">
              <a:rPr lang="en-IN" smtClean="0"/>
              <a:t>‹#›</a:t>
            </a:fld>
            <a:endParaRPr lang="en-IN"/>
          </a:p>
        </p:txBody>
      </p:sp>
      <p:sp>
        <p:nvSpPr>
          <p:cNvPr id="28" name="Footer Placeholder 27"/>
          <p:cNvSpPr>
            <a:spLocks noGrp="1"/>
          </p:cNvSpPr>
          <p:nvPr>
            <p:ph type="ftr" sz="quarter" idx="12"/>
          </p:nvPr>
        </p:nvSpPr>
        <p:spPr/>
        <p:txBody>
          <a:bodyPr rtlCol="0"/>
          <a:lstStyle/>
          <a:p>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143000"/>
            <a:ext cx="8229600" cy="1069848"/>
          </a:xfrm>
        </p:spPr>
        <p:txBody>
          <a:bodyPr anchor="ctr"/>
          <a:lstStyle>
            <a:lvl1pPr>
              <a:defRPr sz="4000">
                <a:solidFill>
                  <a:schemeClr val="tx2"/>
                </a:solidFill>
              </a:defRPr>
            </a:lvl1pPr>
          </a:lstStyle>
          <a:p>
            <a:r>
              <a:rPr kumimoji="0" lang="en-US" smtClean="0"/>
              <a:t>Click to edit Master title style</a:t>
            </a:r>
            <a:endParaRPr kumimoji="0" lang="en-US"/>
          </a:p>
        </p:txBody>
      </p:sp>
      <p:sp>
        <p:nvSpPr>
          <p:cNvPr id="3" name="Date Placeholder 2"/>
          <p:cNvSpPr>
            <a:spLocks noGrp="1"/>
          </p:cNvSpPr>
          <p:nvPr>
            <p:ph type="dt" sz="half" idx="10"/>
          </p:nvPr>
        </p:nvSpPr>
        <p:spPr>
          <a:xfrm>
            <a:off x="6583680" y="612648"/>
            <a:ext cx="957264" cy="457200"/>
          </a:xfrm>
        </p:spPr>
        <p:txBody>
          <a:bodyPr/>
          <a:lstStyle/>
          <a:p>
            <a:fld id="{F40B8F82-E9ED-4A79-A58C-00A3958E7D03}" type="datetimeFigureOut">
              <a:rPr lang="en-IN" smtClean="0"/>
              <a:t>19-04-2026</a:t>
            </a:fld>
            <a:endParaRPr lang="en-IN"/>
          </a:p>
        </p:txBody>
      </p:sp>
      <p:sp>
        <p:nvSpPr>
          <p:cNvPr id="4" name="Footer Placeholder 3"/>
          <p:cNvSpPr>
            <a:spLocks noGrp="1"/>
          </p:cNvSpPr>
          <p:nvPr>
            <p:ph type="ftr" sz="quarter" idx="11"/>
          </p:nvPr>
        </p:nvSpPr>
        <p:spPr>
          <a:xfrm>
            <a:off x="5257800" y="612648"/>
            <a:ext cx="1325880" cy="457200"/>
          </a:xfrm>
        </p:spPr>
        <p:txBody>
          <a:bodyPr/>
          <a:lstStyle/>
          <a:p>
            <a:endParaRPr lang="en-IN"/>
          </a:p>
        </p:txBody>
      </p:sp>
      <p:sp>
        <p:nvSpPr>
          <p:cNvPr id="5" name="Slide Number Placeholder 4"/>
          <p:cNvSpPr>
            <a:spLocks noGrp="1"/>
          </p:cNvSpPr>
          <p:nvPr>
            <p:ph type="sldNum" sz="quarter" idx="12"/>
          </p:nvPr>
        </p:nvSpPr>
        <p:spPr>
          <a:xfrm>
            <a:off x="8174736" y="2272"/>
            <a:ext cx="762000" cy="365760"/>
          </a:xfrm>
        </p:spPr>
        <p:txBody>
          <a:bodyPr/>
          <a:lstStyle/>
          <a:p>
            <a:fld id="{032EA6E1-BBE2-457B-A100-14FF31EF3EDC}" type="slidenum">
              <a:rPr lang="en-IN" smtClean="0"/>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40B8F82-E9ED-4A79-A58C-00A3958E7D03}" type="datetimeFigureOut">
              <a:rPr lang="en-IN" smtClean="0"/>
              <a:t>19-04-2026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032EA6E1-BBE2-457B-A100-14FF31EF3EDC}" type="slidenum">
              <a:rPr lang="en-IN" smtClean="0"/>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353496" y="1101970"/>
            <a:ext cx="3383280" cy="877824"/>
          </a:xfrm>
        </p:spPr>
        <p:txBody>
          <a:bodyPr anchor="b"/>
          <a:lstStyle>
            <a:lvl1pPr algn="l">
              <a:buNone/>
              <a:defRPr sz="1800" b="1"/>
            </a:lvl1pPr>
          </a:lstStyle>
          <a:p>
            <a:r>
              <a:rPr kumimoji="0" lang="en-US" smtClean="0"/>
              <a:t>Click to edit Master title style</a:t>
            </a:r>
            <a:endParaRPr kumimoji="0" lang="en-US"/>
          </a:p>
        </p:txBody>
      </p:sp>
      <p:sp>
        <p:nvSpPr>
          <p:cNvPr id="3" name="Text Placeholder 2"/>
          <p:cNvSpPr>
            <a:spLocks noGrp="1"/>
          </p:cNvSpPr>
          <p:nvPr>
            <p:ph type="body" idx="2"/>
          </p:nvPr>
        </p:nvSpPr>
        <p:spPr>
          <a:xfrm>
            <a:off x="5353496" y="2010727"/>
            <a:ext cx="3383280" cy="4617720"/>
          </a:xfrm>
        </p:spPr>
        <p:txBody>
          <a:bodyPr/>
          <a:lstStyle>
            <a:lvl1pPr marL="9144" indent="0">
              <a:buNone/>
              <a:defRPr sz="1400"/>
            </a:lvl1pPr>
            <a:lvl2pPr>
              <a:buNone/>
              <a:defRPr sz="1200"/>
            </a:lvl2pPr>
            <a:lvl3pPr>
              <a:buNone/>
              <a:defRPr sz="1000"/>
            </a:lvl3pPr>
            <a:lvl4pPr>
              <a:buNone/>
              <a:defRPr sz="900"/>
            </a:lvl4pPr>
            <a:lvl5pPr>
              <a:buNone/>
              <a:defRPr sz="900"/>
            </a:lvl5pPr>
          </a:lstStyle>
          <a:p>
            <a:pPr lvl="0" eaLnBrk="1" latinLnBrk="0" hangingPunct="1"/>
            <a:r>
              <a:rPr kumimoji="0" lang="en-US" smtClean="0"/>
              <a:t>Click to edit Master text styles</a:t>
            </a:r>
          </a:p>
        </p:txBody>
      </p:sp>
      <p:sp>
        <p:nvSpPr>
          <p:cNvPr id="4" name="Content Placeholder 3"/>
          <p:cNvSpPr>
            <a:spLocks noGrp="1"/>
          </p:cNvSpPr>
          <p:nvPr>
            <p:ph sz="half" idx="1"/>
          </p:nvPr>
        </p:nvSpPr>
        <p:spPr>
          <a:xfrm>
            <a:off x="152400" y="776287"/>
            <a:ext cx="5102352" cy="5852160"/>
          </a:xfrm>
        </p:spPr>
        <p:txBody>
          <a:bodyPr/>
          <a:lstStyle>
            <a:lvl1pPr>
              <a:defRPr sz="3200"/>
            </a:lvl1pPr>
            <a:lvl2pPr>
              <a:defRPr sz="2800"/>
            </a:lvl2pPr>
            <a:lvl3pPr>
              <a:defRPr sz="2400"/>
            </a:lvl3pPr>
            <a:lvl4pPr>
              <a:defRPr sz="2000"/>
            </a:lvl4pPr>
            <a:lvl5pPr>
              <a:defRPr sz="20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p>
            <a:fld id="{F40B8F82-E9ED-4A79-A58C-00A3958E7D03}" type="datetimeFigureOut">
              <a:rPr lang="en-IN" smtClean="0"/>
              <a:t>19-04-2026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32EA6E1-BBE2-457B-A100-14FF31EF3EDC}" type="slidenum">
              <a:rPr lang="en-IN" smtClean="0"/>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40434" y="1109160"/>
            <a:ext cx="586803" cy="4681637"/>
          </a:xfrm>
        </p:spPr>
        <p:txBody>
          <a:bodyPr vert="vert270" lIns="45720" tIns="0" rIns="45720" anchor="t"/>
          <a:lstStyle>
            <a:lvl1pPr algn="ctr">
              <a:buNone/>
              <a:defRPr sz="2000" b="1"/>
            </a:lvl1pPr>
          </a:lstStyle>
          <a:p>
            <a:r>
              <a:rPr kumimoji="0" lang="en-US" smtClean="0"/>
              <a:t>Click to edit Master title style</a:t>
            </a:r>
            <a:endParaRPr kumimoji="0" lang="en-US"/>
          </a:p>
        </p:txBody>
      </p:sp>
      <p:sp>
        <p:nvSpPr>
          <p:cNvPr id="3" name="Picture Placeholder 2"/>
          <p:cNvSpPr>
            <a:spLocks noGrp="1"/>
          </p:cNvSpPr>
          <p:nvPr>
            <p:ph type="pic" idx="1"/>
          </p:nvPr>
        </p:nvSpPr>
        <p:spPr>
          <a:xfrm>
            <a:off x="403671" y="1143000"/>
            <a:ext cx="4572000" cy="4572000"/>
          </a:xfrm>
          <a:solidFill>
            <a:srgbClr val="EAEAEA"/>
          </a:solidFill>
          <a:ln w="50800">
            <a:solidFill>
              <a:srgbClr val="FFFFFF"/>
            </a:solidFill>
            <a:miter lim="800000"/>
          </a:ln>
          <a:effectLst>
            <a:outerShdw blurRad="57150" dist="31750" dir="4800000" algn="tl" rotWithShape="0">
              <a:srgbClr val="000000">
                <a:alpha val="25000"/>
              </a:srgbClr>
            </a:outerShdw>
          </a:effectLst>
          <a:scene3d>
            <a:camera prst="orthographicFront"/>
            <a:lightRig rig="twoPt" dir="t">
              <a:rot lat="0" lon="0" rev="7200000"/>
            </a:lightRig>
          </a:scene3d>
          <a:sp3d contourW="2540">
            <a:bevelT w="25400" h="19050"/>
            <a:contourClr>
              <a:srgbClr val="AEAEAE"/>
            </a:contourClr>
          </a:sp3d>
        </p:spPr>
        <p:txBody>
          <a:bodyPr/>
          <a:lstStyle>
            <a:lvl1pPr marL="0" indent="0">
              <a:buNone/>
              <a:defRPr sz="3200"/>
            </a:lvl1pPr>
          </a:lstStyle>
          <a:p>
            <a:r>
              <a:rPr kumimoji="0" lang="en-US" smtClean="0"/>
              <a:t>Click icon to add picture</a:t>
            </a:r>
            <a:endParaRPr kumimoji="0" lang="en-US" dirty="0"/>
          </a:p>
        </p:txBody>
      </p:sp>
      <p:sp>
        <p:nvSpPr>
          <p:cNvPr id="4" name="Text Placeholder 3"/>
          <p:cNvSpPr>
            <a:spLocks noGrp="1"/>
          </p:cNvSpPr>
          <p:nvPr>
            <p:ph type="body" sz="half" idx="2"/>
          </p:nvPr>
        </p:nvSpPr>
        <p:spPr>
          <a:xfrm>
            <a:off x="6088443" y="3274308"/>
            <a:ext cx="2590800" cy="2516489"/>
          </a:xfrm>
        </p:spPr>
        <p:txBody>
          <a:bodyPr lIns="0" tIns="0" rIns="45720" anchor="t"/>
          <a:lstStyle>
            <a:lvl1pPr marL="0" indent="0">
              <a:lnSpc>
                <a:spcPct val="100000"/>
              </a:lnSpc>
              <a:spcBef>
                <a:spcPts val="0"/>
              </a:spcBef>
              <a:buFontTx/>
              <a:buNone/>
              <a:defRPr sz="1300"/>
            </a:lvl1pPr>
            <a:lvl2pPr>
              <a:buFontTx/>
              <a:buNone/>
              <a:defRPr sz="1200"/>
            </a:lvl2pPr>
            <a:lvl3pPr>
              <a:buFontTx/>
              <a:buNone/>
              <a:defRPr sz="1000"/>
            </a:lvl3pPr>
            <a:lvl4pPr>
              <a:buFontTx/>
              <a:buNone/>
              <a:defRPr sz="900"/>
            </a:lvl4pPr>
            <a:lvl5pPr>
              <a:buFontTx/>
              <a:buNone/>
              <a:defRPr sz="900"/>
            </a:lvl5pPr>
          </a:lstStyle>
          <a:p>
            <a:pPr lvl="0" eaLnBrk="1" latinLnBrk="0" hangingPunct="1"/>
            <a:r>
              <a:rPr kumimoji="0" lang="en-US" smtClean="0"/>
              <a:t>Click to edit Master text styles</a:t>
            </a:r>
          </a:p>
        </p:txBody>
      </p:sp>
      <p:sp>
        <p:nvSpPr>
          <p:cNvPr id="5" name="Date Placeholder 4"/>
          <p:cNvSpPr>
            <a:spLocks noGrp="1"/>
          </p:cNvSpPr>
          <p:nvPr>
            <p:ph type="dt" sz="half" idx="10"/>
          </p:nvPr>
        </p:nvSpPr>
        <p:spPr/>
        <p:txBody>
          <a:bodyPr/>
          <a:lstStyle/>
          <a:p>
            <a:fld id="{F40B8F82-E9ED-4A79-A58C-00A3958E7D03}" type="datetimeFigureOut">
              <a:rPr lang="en-IN" smtClean="0"/>
              <a:t>19-04-2026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32EA6E1-BBE2-457B-A100-14FF31EF3EDC}" type="slidenum">
              <a:rPr lang="en-IN" smtClean="0"/>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F40B8F82-E9ED-4A79-A58C-00A3958E7D03}" type="datetimeFigureOut">
              <a:rPr lang="en-IN" smtClean="0"/>
              <a:t>19-04-2026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32EA6E1-BBE2-457B-A100-14FF31EF3EDC}" type="slidenum">
              <a:rPr lang="en-IN" smtClean="0"/>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81800" y="1143000"/>
            <a:ext cx="1905000" cy="5486400"/>
          </a:xfrm>
        </p:spPr>
        <p:txBody>
          <a:bodyPr vert="eaVer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457200" y="1143000"/>
            <a:ext cx="6248400" cy="5486400"/>
          </a:xfrm>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F40B8F82-E9ED-4A79-A58C-00A3958E7D03}" type="datetimeFigureOut">
              <a:rPr lang="en-IN" smtClean="0"/>
              <a:t>19-04-2026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32EA6E1-BBE2-457B-A100-14FF31EF3EDC}" type="slidenum">
              <a:rPr lang="en-IN" smtClean="0"/>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Rectangle 27"/>
          <p:cNvSpPr/>
          <p:nvPr/>
        </p:nvSpPr>
        <p:spPr>
          <a:xfrm>
            <a:off x="1" y="366818"/>
            <a:ext cx="9144000" cy="84407"/>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9" name="Rectangle 28"/>
          <p:cNvSpPr/>
          <p:nvPr/>
        </p:nvSpPr>
        <p:spPr>
          <a:xfrm>
            <a:off x="0" y="-1"/>
            <a:ext cx="9144000" cy="310663"/>
          </a:xfrm>
          <a:prstGeom prst="rect">
            <a:avLst/>
          </a:prstGeom>
          <a:solidFill>
            <a:schemeClr val="tx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0" name="Rectangle 29"/>
          <p:cNvSpPr/>
          <p:nvPr/>
        </p:nvSpPr>
        <p:spPr>
          <a:xfrm>
            <a:off x="0" y="308276"/>
            <a:ext cx="9144001" cy="91441"/>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1" name="Rectangle 30"/>
          <p:cNvSpPr/>
          <p:nvPr/>
        </p:nvSpPr>
        <p:spPr>
          <a:xfrm flipV="1">
            <a:off x="5410182" y="360246"/>
            <a:ext cx="3733819" cy="91087"/>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flipV="1">
            <a:off x="5410200" y="440112"/>
            <a:ext cx="3733801" cy="180035"/>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useBgFill="1">
        <p:nvSpPr>
          <p:cNvPr id="33" name="Rounded Rectangle 32"/>
          <p:cNvSpPr/>
          <p:nvPr/>
        </p:nvSpPr>
        <p:spPr bwMode="white">
          <a:xfrm>
            <a:off x="5407339" y="497504"/>
            <a:ext cx="3063240" cy="27432"/>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useBgFill="1">
        <p:nvSpPr>
          <p:cNvPr id="34" name="Rounded Rectangle 33"/>
          <p:cNvSpPr/>
          <p:nvPr/>
        </p:nvSpPr>
        <p:spPr bwMode="white">
          <a:xfrm>
            <a:off x="7373646" y="588943"/>
            <a:ext cx="1600200" cy="36576"/>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5" name="Rectangle 34"/>
          <p:cNvSpPr/>
          <p:nvPr/>
        </p:nvSpPr>
        <p:spPr bwMode="invGray">
          <a:xfrm>
            <a:off x="9084966" y="-2001"/>
            <a:ext cx="57626" cy="621792"/>
          </a:xfrm>
          <a:prstGeom prst="rect">
            <a:avLst/>
          </a:prstGeom>
          <a:solidFill>
            <a:srgbClr val="FFFFFF">
              <a:alpha val="65098"/>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36" name="Rectangle 35"/>
          <p:cNvSpPr/>
          <p:nvPr/>
        </p:nvSpPr>
        <p:spPr bwMode="invGray">
          <a:xfrm>
            <a:off x="9044481" y="-2001"/>
            <a:ext cx="27432" cy="621792"/>
          </a:xfrm>
          <a:prstGeom prst="rect">
            <a:avLst/>
          </a:prstGeom>
          <a:solidFill>
            <a:srgbClr val="FFFFFF">
              <a:alpha val="65098"/>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37" name="Rectangle 36"/>
          <p:cNvSpPr/>
          <p:nvPr/>
        </p:nvSpPr>
        <p:spPr bwMode="invGray">
          <a:xfrm>
            <a:off x="9025428" y="-2001"/>
            <a:ext cx="9144" cy="621792"/>
          </a:xfrm>
          <a:prstGeom prst="rect">
            <a:avLst/>
          </a:prstGeom>
          <a:solidFill>
            <a:srgbClr val="FFFFFF">
              <a:alpha val="60000"/>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8" name="Rectangle 37"/>
          <p:cNvSpPr/>
          <p:nvPr/>
        </p:nvSpPr>
        <p:spPr bwMode="invGray">
          <a:xfrm>
            <a:off x="8975423" y="-2001"/>
            <a:ext cx="27432" cy="621792"/>
          </a:xfrm>
          <a:prstGeom prst="rect">
            <a:avLst/>
          </a:prstGeom>
          <a:solidFill>
            <a:srgbClr val="FFFFFF">
              <a:alpha val="40000"/>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9" name="Rectangle 38"/>
          <p:cNvSpPr/>
          <p:nvPr/>
        </p:nvSpPr>
        <p:spPr bwMode="invGray">
          <a:xfrm>
            <a:off x="8915677" y="380"/>
            <a:ext cx="54864" cy="585216"/>
          </a:xfrm>
          <a:prstGeom prst="rect">
            <a:avLst/>
          </a:prstGeom>
          <a:solidFill>
            <a:srgbClr val="FFFFFF">
              <a:alpha val="20000"/>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40" name="Rectangle 39"/>
          <p:cNvSpPr/>
          <p:nvPr/>
        </p:nvSpPr>
        <p:spPr bwMode="invGray">
          <a:xfrm>
            <a:off x="8873475" y="380"/>
            <a:ext cx="9144" cy="585216"/>
          </a:xfrm>
          <a:prstGeom prst="rect">
            <a:avLst/>
          </a:prstGeom>
          <a:solidFill>
            <a:srgbClr val="FFFFFF">
              <a:alpha val="30196"/>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2" name="Title Placeholder 21"/>
          <p:cNvSpPr>
            <a:spLocks noGrp="1"/>
          </p:cNvSpPr>
          <p:nvPr>
            <p:ph type="title"/>
          </p:nvPr>
        </p:nvSpPr>
        <p:spPr>
          <a:xfrm>
            <a:off x="457200" y="1143000"/>
            <a:ext cx="8229600" cy="1066800"/>
          </a:xfrm>
          <a:prstGeom prst="rect">
            <a:avLst/>
          </a:prstGeom>
        </p:spPr>
        <p:txBody>
          <a:bodyPr vert="horz" anchor="ctr">
            <a:normAutofit/>
          </a:bodyPr>
          <a:lstStyle/>
          <a:p>
            <a:r>
              <a:rPr kumimoji="0" lang="en-US" smtClean="0"/>
              <a:t>Click to edit Master title style</a:t>
            </a:r>
            <a:endParaRPr kumimoji="0" lang="en-US"/>
          </a:p>
        </p:txBody>
      </p:sp>
      <p:sp>
        <p:nvSpPr>
          <p:cNvPr id="13" name="Text Placeholder 12"/>
          <p:cNvSpPr>
            <a:spLocks noGrp="1"/>
          </p:cNvSpPr>
          <p:nvPr>
            <p:ph type="body" idx="1"/>
          </p:nvPr>
        </p:nvSpPr>
        <p:spPr>
          <a:xfrm>
            <a:off x="457200" y="2249424"/>
            <a:ext cx="8229600" cy="4325112"/>
          </a:xfrm>
          <a:prstGeom prst="rect">
            <a:avLst/>
          </a:prstGeom>
        </p:spPr>
        <p:txBody>
          <a:bodyPr vert="horz">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a:p>
        </p:txBody>
      </p:sp>
      <p:sp>
        <p:nvSpPr>
          <p:cNvPr id="14" name="Date Placeholder 13"/>
          <p:cNvSpPr>
            <a:spLocks noGrp="1"/>
          </p:cNvSpPr>
          <p:nvPr>
            <p:ph type="dt" sz="half" idx="2"/>
          </p:nvPr>
        </p:nvSpPr>
        <p:spPr>
          <a:xfrm>
            <a:off x="6586536" y="612648"/>
            <a:ext cx="957264" cy="457200"/>
          </a:xfrm>
          <a:prstGeom prst="rect">
            <a:avLst/>
          </a:prstGeom>
        </p:spPr>
        <p:txBody>
          <a:bodyPr vert="horz"/>
          <a:lstStyle>
            <a:lvl1pPr algn="l" eaLnBrk="1" latinLnBrk="0" hangingPunct="1">
              <a:defRPr kumimoji="0" sz="800">
                <a:solidFill>
                  <a:schemeClr val="accent2"/>
                </a:solidFill>
              </a:defRPr>
            </a:lvl1pPr>
          </a:lstStyle>
          <a:p>
            <a:fld id="{F40B8F82-E9ED-4A79-A58C-00A3958E7D03}" type="datetimeFigureOut">
              <a:rPr lang="en-IN" smtClean="0"/>
              <a:t>19-04-2026</a:t>
            </a:fld>
            <a:endParaRPr lang="en-IN"/>
          </a:p>
        </p:txBody>
      </p:sp>
      <p:sp>
        <p:nvSpPr>
          <p:cNvPr id="3" name="Footer Placeholder 2"/>
          <p:cNvSpPr>
            <a:spLocks noGrp="1"/>
          </p:cNvSpPr>
          <p:nvPr>
            <p:ph type="ftr" sz="quarter" idx="3"/>
          </p:nvPr>
        </p:nvSpPr>
        <p:spPr>
          <a:xfrm>
            <a:off x="5257800" y="612648"/>
            <a:ext cx="1325880" cy="457200"/>
          </a:xfrm>
          <a:prstGeom prst="rect">
            <a:avLst/>
          </a:prstGeom>
        </p:spPr>
        <p:txBody>
          <a:bodyPr vert="horz"/>
          <a:lstStyle>
            <a:lvl1pPr algn="r" eaLnBrk="1" latinLnBrk="0" hangingPunct="1">
              <a:defRPr kumimoji="0" sz="800">
                <a:solidFill>
                  <a:schemeClr val="accent2"/>
                </a:solidFill>
              </a:defRPr>
            </a:lvl1pPr>
          </a:lstStyle>
          <a:p>
            <a:endParaRPr lang="en-IN"/>
          </a:p>
        </p:txBody>
      </p:sp>
      <p:sp>
        <p:nvSpPr>
          <p:cNvPr id="23" name="Slide Number Placeholder 22"/>
          <p:cNvSpPr>
            <a:spLocks noGrp="1"/>
          </p:cNvSpPr>
          <p:nvPr>
            <p:ph type="sldNum" sz="quarter" idx="4"/>
          </p:nvPr>
        </p:nvSpPr>
        <p:spPr>
          <a:xfrm>
            <a:off x="8174736" y="2272"/>
            <a:ext cx="762000" cy="365760"/>
          </a:xfrm>
          <a:prstGeom prst="rect">
            <a:avLst/>
          </a:prstGeom>
        </p:spPr>
        <p:txBody>
          <a:bodyPr vert="horz" anchor="b"/>
          <a:lstStyle>
            <a:lvl1pPr algn="r" eaLnBrk="1" latinLnBrk="0" hangingPunct="1">
              <a:defRPr kumimoji="0" sz="1800">
                <a:solidFill>
                  <a:srgbClr val="FFFFFF"/>
                </a:solidFill>
              </a:defRPr>
            </a:lvl1pPr>
          </a:lstStyle>
          <a:p>
            <a:fld id="{032EA6E1-BBE2-457B-A100-14FF31EF3EDC}" type="slidenum">
              <a:rPr lang="en-IN" smtClean="0"/>
              <a:t>‹#›</a:t>
            </a:fld>
            <a:endParaRPr lang="en-IN"/>
          </a:p>
        </p:txBody>
      </p:sp>
    </p:spTree>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rtl="0" eaLnBrk="1" latinLnBrk="0" hangingPunct="1">
        <a:spcBef>
          <a:spcPct val="0"/>
        </a:spcBef>
        <a:buNone/>
        <a:defRPr kumimoji="0" sz="4000" kern="1200">
          <a:solidFill>
            <a:schemeClr val="tx2"/>
          </a:solidFill>
          <a:latin typeface="+mj-lt"/>
          <a:ea typeface="+mj-ea"/>
          <a:cs typeface="+mj-cs"/>
        </a:defRPr>
      </a:lvl1pPr>
    </p:titleStyle>
    <p:bodyStyle>
      <a:lvl1pPr marL="365760" indent="-256032" algn="l" rtl="0" eaLnBrk="1" latinLnBrk="0" hangingPunct="1">
        <a:spcBef>
          <a:spcPts val="300"/>
        </a:spcBef>
        <a:buClr>
          <a:schemeClr val="accent3"/>
        </a:buClr>
        <a:buFont typeface="Georgia"/>
        <a:buChar char="•"/>
        <a:defRPr kumimoji="0" sz="2800" kern="1200">
          <a:solidFill>
            <a:schemeClr val="tx1"/>
          </a:solidFill>
          <a:latin typeface="+mn-lt"/>
          <a:ea typeface="+mn-ea"/>
          <a:cs typeface="+mn-cs"/>
        </a:defRPr>
      </a:lvl1pPr>
      <a:lvl2pPr marL="658368" indent="-246888" algn="l" rtl="0" eaLnBrk="1" latinLnBrk="0" hangingPunct="1">
        <a:spcBef>
          <a:spcPts val="300"/>
        </a:spcBef>
        <a:buClr>
          <a:schemeClr val="accent2"/>
        </a:buClr>
        <a:buFont typeface="Georgia"/>
        <a:buChar char="▫"/>
        <a:defRPr kumimoji="0" sz="2600" kern="1200">
          <a:solidFill>
            <a:schemeClr val="accent2"/>
          </a:solidFill>
          <a:latin typeface="+mn-lt"/>
          <a:ea typeface="+mn-ea"/>
          <a:cs typeface="+mn-cs"/>
        </a:defRPr>
      </a:lvl2pPr>
      <a:lvl3pPr marL="923544" indent="-219456" algn="l" rtl="0" eaLnBrk="1" latinLnBrk="0" hangingPunct="1">
        <a:spcBef>
          <a:spcPts val="300"/>
        </a:spcBef>
        <a:buClr>
          <a:schemeClr val="accent1"/>
        </a:buClr>
        <a:buFont typeface="Wingdings 2"/>
        <a:buChar char=""/>
        <a:defRPr kumimoji="0" sz="2400" kern="1200">
          <a:solidFill>
            <a:schemeClr val="accent1"/>
          </a:solidFill>
          <a:latin typeface="+mn-lt"/>
          <a:ea typeface="+mn-ea"/>
          <a:cs typeface="+mn-cs"/>
        </a:defRPr>
      </a:lvl3pPr>
      <a:lvl4pPr marL="1179576" indent="-201168" algn="l" rtl="0" eaLnBrk="1" latinLnBrk="0" hangingPunct="1">
        <a:spcBef>
          <a:spcPts val="300"/>
        </a:spcBef>
        <a:buClr>
          <a:schemeClr val="accent1"/>
        </a:buClr>
        <a:buFont typeface="Wingdings 2"/>
        <a:buChar char=""/>
        <a:defRPr kumimoji="0" sz="2200" kern="1200">
          <a:solidFill>
            <a:schemeClr val="accent1"/>
          </a:solidFill>
          <a:latin typeface="+mn-lt"/>
          <a:ea typeface="+mn-ea"/>
          <a:cs typeface="+mn-cs"/>
        </a:defRPr>
      </a:lvl4pPr>
      <a:lvl5pPr marL="1389888" indent="-182880" algn="l" rtl="0" eaLnBrk="1" latinLnBrk="0" hangingPunct="1">
        <a:spcBef>
          <a:spcPts val="300"/>
        </a:spcBef>
        <a:buClr>
          <a:schemeClr val="accent3"/>
        </a:buClr>
        <a:buFont typeface="Georgia"/>
        <a:buChar char="▫"/>
        <a:defRPr kumimoji="0" sz="2000" kern="1200">
          <a:solidFill>
            <a:schemeClr val="accent3"/>
          </a:solidFill>
          <a:latin typeface="+mn-lt"/>
          <a:ea typeface="+mn-ea"/>
          <a:cs typeface="+mn-cs"/>
        </a:defRPr>
      </a:lvl5pPr>
      <a:lvl6pPr marL="1609344" indent="-182880" algn="l" rtl="0" eaLnBrk="1" latinLnBrk="0" hangingPunct="1">
        <a:spcBef>
          <a:spcPts val="300"/>
        </a:spcBef>
        <a:buClr>
          <a:schemeClr val="accent3"/>
        </a:buClr>
        <a:buFont typeface="Georgia"/>
        <a:buChar char="▫"/>
        <a:defRPr kumimoji="0" sz="1800" kern="1200">
          <a:solidFill>
            <a:schemeClr val="accent3"/>
          </a:solidFill>
          <a:latin typeface="+mn-lt"/>
          <a:ea typeface="+mn-ea"/>
          <a:cs typeface="+mn-cs"/>
        </a:defRPr>
      </a:lvl6pPr>
      <a:lvl7pPr marL="1828800" indent="-182880" algn="l" rtl="0" eaLnBrk="1" latinLnBrk="0" hangingPunct="1">
        <a:spcBef>
          <a:spcPts val="300"/>
        </a:spcBef>
        <a:buClr>
          <a:schemeClr val="accent3"/>
        </a:buClr>
        <a:buFont typeface="Georgia"/>
        <a:buChar char="▫"/>
        <a:defRPr kumimoji="0" sz="1600" kern="1200">
          <a:solidFill>
            <a:schemeClr val="accent3"/>
          </a:solidFill>
          <a:latin typeface="+mn-lt"/>
          <a:ea typeface="+mn-ea"/>
          <a:cs typeface="+mn-cs"/>
        </a:defRPr>
      </a:lvl7pPr>
      <a:lvl8pPr marL="2029968" indent="-182880" algn="l" rtl="0" eaLnBrk="1" latinLnBrk="0" hangingPunct="1">
        <a:spcBef>
          <a:spcPts val="300"/>
        </a:spcBef>
        <a:buClr>
          <a:schemeClr val="accent3"/>
        </a:buClr>
        <a:buFont typeface="Georgia"/>
        <a:buChar char="◦"/>
        <a:defRPr kumimoji="0" sz="1500" kern="1200">
          <a:solidFill>
            <a:schemeClr val="accent3"/>
          </a:solidFill>
          <a:latin typeface="+mn-lt"/>
          <a:ea typeface="+mn-ea"/>
          <a:cs typeface="+mn-cs"/>
        </a:defRPr>
      </a:lvl8pPr>
      <a:lvl9pPr marL="2240280" indent="-182880" algn="l" rtl="0" eaLnBrk="1" latinLnBrk="0" hangingPunct="1">
        <a:spcBef>
          <a:spcPts val="300"/>
        </a:spcBef>
        <a:buClr>
          <a:schemeClr val="accent3"/>
        </a:buClr>
        <a:buFont typeface="Georgia"/>
        <a:buChar char="◦"/>
        <a:defRPr kumimoji="0" sz="1400" kern="1200" baseline="0">
          <a:solidFill>
            <a:schemeClr val="accent3"/>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dirty="0" smtClean="0"/>
              <a:t>AI-Based Recruitment and Resume Screening Application</a:t>
            </a:r>
            <a:endParaRPr lang="en-IN" dirty="0"/>
          </a:p>
        </p:txBody>
      </p:sp>
      <p:sp>
        <p:nvSpPr>
          <p:cNvPr id="3" name="Subtitle 2"/>
          <p:cNvSpPr>
            <a:spLocks noGrp="1"/>
          </p:cNvSpPr>
          <p:nvPr>
            <p:ph type="subTitle" idx="1"/>
          </p:nvPr>
        </p:nvSpPr>
        <p:spPr/>
        <p:txBody>
          <a:bodyPr/>
          <a:lstStyle/>
          <a:p>
            <a:r>
              <a:rPr lang="en-US" dirty="0" smtClean="0"/>
              <a:t>Presented by : </a:t>
            </a:r>
            <a:r>
              <a:rPr lang="en-US" dirty="0" err="1" smtClean="0"/>
              <a:t>Rajat</a:t>
            </a:r>
            <a:r>
              <a:rPr lang="en-US" dirty="0" smtClean="0"/>
              <a:t> </a:t>
            </a:r>
            <a:r>
              <a:rPr lang="en-US" dirty="0" err="1"/>
              <a:t>C</a:t>
            </a:r>
            <a:r>
              <a:rPr lang="en-US" dirty="0" err="1" smtClean="0"/>
              <a:t>hauhan</a:t>
            </a:r>
            <a:endParaRPr lang="en-IN" dirty="0"/>
          </a:p>
        </p:txBody>
      </p:sp>
    </p:spTree>
    <p:extLst>
      <p:ext uri="{BB962C8B-B14F-4D97-AF65-F5344CB8AC3E}">
        <p14:creationId xmlns:p14="http://schemas.microsoft.com/office/powerpoint/2010/main" val="3210409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Introduction</a:t>
            </a:r>
            <a:endParaRPr lang="en-IN" dirty="0"/>
          </a:p>
        </p:txBody>
      </p:sp>
      <p:sp>
        <p:nvSpPr>
          <p:cNvPr id="3" name="Content Placeholder 2"/>
          <p:cNvSpPr>
            <a:spLocks noGrp="1"/>
          </p:cNvSpPr>
          <p:nvPr>
            <p:ph idx="1"/>
          </p:nvPr>
        </p:nvSpPr>
        <p:spPr/>
        <p:txBody>
          <a:bodyPr>
            <a:normAutofit fontScale="85000" lnSpcReduction="20000"/>
          </a:bodyPr>
          <a:lstStyle/>
          <a:p>
            <a:r>
              <a:rPr lang="en-US" dirty="0" smtClean="0"/>
              <a:t>Recruitment is one of the most crucial processes in any organization. Companies receive thousands of resumes for a single job opening, making it difficult for HR teams to manually review each application. This leads to inefficiency, delays, and sometimes poor hiring decisions.</a:t>
            </a:r>
          </a:p>
          <a:p>
            <a:r>
              <a:rPr lang="en-US" dirty="0" smtClean="0"/>
              <a:t>The AI-Based Recruitment and Resume Screening Application is designed to address these challenges by automating the resume screening process. The system analyzes resumes, extracts relevant information, and ranks candidates based on their suitability for a specific job role.</a:t>
            </a:r>
          </a:p>
          <a:p>
            <a:r>
              <a:rPr lang="en-US" dirty="0" smtClean="0"/>
              <a:t>By using AI, we aim to reduce human effort, eliminate bias, and improve the quality of hiring decisions.</a:t>
            </a:r>
          </a:p>
          <a:p>
            <a:endParaRPr lang="en-IN" dirty="0"/>
          </a:p>
        </p:txBody>
      </p:sp>
    </p:spTree>
    <p:extLst>
      <p:ext uri="{BB962C8B-B14F-4D97-AF65-F5344CB8AC3E}">
        <p14:creationId xmlns:p14="http://schemas.microsoft.com/office/powerpoint/2010/main" val="23840888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Problem Statement</a:t>
            </a:r>
            <a:endParaRPr lang="en-IN" dirty="0"/>
          </a:p>
        </p:txBody>
      </p:sp>
      <p:sp>
        <p:nvSpPr>
          <p:cNvPr id="3" name="Content Placeholder 2"/>
          <p:cNvSpPr>
            <a:spLocks noGrp="1"/>
          </p:cNvSpPr>
          <p:nvPr>
            <p:ph idx="1"/>
          </p:nvPr>
        </p:nvSpPr>
        <p:spPr/>
        <p:txBody>
          <a:bodyPr>
            <a:normAutofit fontScale="92500" lnSpcReduction="10000"/>
          </a:bodyPr>
          <a:lstStyle/>
          <a:p>
            <a:r>
              <a:rPr lang="en-US" dirty="0" smtClean="0"/>
              <a:t>The traditional recruitment process suffers from several limitations:</a:t>
            </a:r>
          </a:p>
          <a:p>
            <a:r>
              <a:rPr lang="en-US" dirty="0" smtClean="0"/>
              <a:t>Manual resume screening is time-consuming </a:t>
            </a:r>
          </a:p>
          <a:p>
            <a:r>
              <a:rPr lang="en-US" dirty="0" smtClean="0"/>
              <a:t>High chances of human bias </a:t>
            </a:r>
          </a:p>
          <a:p>
            <a:r>
              <a:rPr lang="en-US" dirty="0" smtClean="0"/>
              <a:t>Difficulty in handling large volumes of applications </a:t>
            </a:r>
          </a:p>
          <a:p>
            <a:r>
              <a:rPr lang="en-US" dirty="0" smtClean="0"/>
              <a:t>Lack of consistency in candidate evaluation </a:t>
            </a:r>
          </a:p>
          <a:p>
            <a:r>
              <a:rPr lang="en-US" dirty="0" smtClean="0"/>
              <a:t>Missing out on potential candidates due to human error </a:t>
            </a:r>
          </a:p>
          <a:p>
            <a:r>
              <a:rPr lang="en-US" dirty="0" smtClean="0"/>
              <a:t>These challenges highlight the need for an automated, intelligent system that can efficiently process and evaluate resumes.</a:t>
            </a:r>
          </a:p>
          <a:p>
            <a:endParaRPr lang="en-IN" dirty="0"/>
          </a:p>
        </p:txBody>
      </p:sp>
    </p:spTree>
    <p:extLst>
      <p:ext uri="{BB962C8B-B14F-4D97-AF65-F5344CB8AC3E}">
        <p14:creationId xmlns:p14="http://schemas.microsoft.com/office/powerpoint/2010/main" val="32915948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Objectives</a:t>
            </a:r>
            <a:endParaRPr lang="en-IN" dirty="0"/>
          </a:p>
        </p:txBody>
      </p:sp>
      <p:sp>
        <p:nvSpPr>
          <p:cNvPr id="3" name="Content Placeholder 2"/>
          <p:cNvSpPr>
            <a:spLocks noGrp="1"/>
          </p:cNvSpPr>
          <p:nvPr>
            <p:ph idx="1"/>
          </p:nvPr>
        </p:nvSpPr>
        <p:spPr/>
        <p:txBody>
          <a:bodyPr>
            <a:normAutofit/>
          </a:bodyPr>
          <a:lstStyle/>
          <a:p>
            <a:r>
              <a:rPr lang="en-US" dirty="0" smtClean="0"/>
              <a:t>The main objectives of this project are:</a:t>
            </a:r>
          </a:p>
          <a:p>
            <a:r>
              <a:rPr lang="en-US" dirty="0" smtClean="0"/>
              <a:t>To automate the resume screening process </a:t>
            </a:r>
          </a:p>
          <a:p>
            <a:r>
              <a:rPr lang="en-US" dirty="0" smtClean="0"/>
              <a:t>To extract relevant information from resumes using NLP </a:t>
            </a:r>
          </a:p>
          <a:p>
            <a:r>
              <a:rPr lang="en-US" dirty="0" smtClean="0"/>
              <a:t>To match candidate skills with job requirements </a:t>
            </a:r>
          </a:p>
          <a:p>
            <a:r>
              <a:rPr lang="en-US" dirty="0" smtClean="0"/>
              <a:t>To rank candidates based on suitability </a:t>
            </a:r>
          </a:p>
          <a:p>
            <a:r>
              <a:rPr lang="en-US" dirty="0" smtClean="0"/>
              <a:t>To reduce time and effort in recruitment </a:t>
            </a:r>
          </a:p>
          <a:p>
            <a:r>
              <a:rPr lang="en-US" dirty="0" smtClean="0"/>
              <a:t>To improve accuracy and fairness in hiring</a:t>
            </a:r>
          </a:p>
          <a:p>
            <a:endParaRPr lang="en-IN" sz="3000" dirty="0"/>
          </a:p>
        </p:txBody>
      </p:sp>
    </p:spTree>
    <p:extLst>
      <p:ext uri="{BB962C8B-B14F-4D97-AF65-F5344CB8AC3E}">
        <p14:creationId xmlns:p14="http://schemas.microsoft.com/office/powerpoint/2010/main" val="6730328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Proposed Solution</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Our solution is an AI-based system that uses machine learning and NLP techniques to process resumes.</a:t>
            </a:r>
          </a:p>
          <a:p>
            <a:r>
              <a:rPr lang="en-US" dirty="0" smtClean="0"/>
              <a:t>The system works as follows:</a:t>
            </a:r>
          </a:p>
          <a:p>
            <a:r>
              <a:rPr lang="en-US" dirty="0" smtClean="0"/>
              <a:t>Upload resumes </a:t>
            </a:r>
          </a:p>
          <a:p>
            <a:r>
              <a:rPr lang="en-US" dirty="0" smtClean="0"/>
              <a:t>Extract text from resumes </a:t>
            </a:r>
          </a:p>
          <a:p>
            <a:r>
              <a:rPr lang="en-US" dirty="0" smtClean="0"/>
              <a:t>Analyze skills and experience </a:t>
            </a:r>
          </a:p>
          <a:p>
            <a:r>
              <a:rPr lang="en-US" dirty="0" smtClean="0"/>
              <a:t>Compare with job description </a:t>
            </a:r>
          </a:p>
          <a:p>
            <a:r>
              <a:rPr lang="en-US" dirty="0" smtClean="0"/>
              <a:t>Rank candidates </a:t>
            </a:r>
          </a:p>
          <a:p>
            <a:r>
              <a:rPr lang="en-US" dirty="0" smtClean="0"/>
              <a:t>Display results </a:t>
            </a:r>
          </a:p>
          <a:p>
            <a:r>
              <a:rPr lang="en-US" dirty="0" smtClean="0"/>
              <a:t>This approach significantly improves efficiency and decision-making in recruitment.</a:t>
            </a:r>
          </a:p>
          <a:p>
            <a:endParaRPr lang="en-IN" dirty="0"/>
          </a:p>
        </p:txBody>
      </p:sp>
    </p:spTree>
    <p:extLst>
      <p:ext uri="{BB962C8B-B14F-4D97-AF65-F5344CB8AC3E}">
        <p14:creationId xmlns:p14="http://schemas.microsoft.com/office/powerpoint/2010/main" val="3084842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System Architecture</a:t>
            </a:r>
            <a:endParaRPr lang="en-IN" dirty="0"/>
          </a:p>
        </p:txBody>
      </p:sp>
      <p:sp>
        <p:nvSpPr>
          <p:cNvPr id="3" name="Content Placeholder 2"/>
          <p:cNvSpPr>
            <a:spLocks noGrp="1"/>
          </p:cNvSpPr>
          <p:nvPr>
            <p:ph idx="1"/>
          </p:nvPr>
        </p:nvSpPr>
        <p:spPr/>
        <p:txBody>
          <a:bodyPr>
            <a:normAutofit lnSpcReduction="10000"/>
          </a:bodyPr>
          <a:lstStyle/>
          <a:p>
            <a:r>
              <a:rPr lang="en-US" dirty="0" smtClean="0"/>
              <a:t>The system consists of the following components:</a:t>
            </a:r>
          </a:p>
          <a:p>
            <a:r>
              <a:rPr lang="en-US" dirty="0" smtClean="0"/>
              <a:t>User Interface (for uploading resumes) </a:t>
            </a:r>
          </a:p>
          <a:p>
            <a:r>
              <a:rPr lang="en-US" dirty="0" smtClean="0"/>
              <a:t>Resume Parser </a:t>
            </a:r>
          </a:p>
          <a:p>
            <a:r>
              <a:rPr lang="en-US" dirty="0" smtClean="0"/>
              <a:t>NLP Processing Module </a:t>
            </a:r>
          </a:p>
          <a:p>
            <a:r>
              <a:rPr lang="en-US" dirty="0" smtClean="0"/>
              <a:t>Machine Learning Model </a:t>
            </a:r>
          </a:p>
          <a:p>
            <a:r>
              <a:rPr lang="en-US" dirty="0" smtClean="0"/>
              <a:t>Ranking Engine </a:t>
            </a:r>
          </a:p>
          <a:p>
            <a:r>
              <a:rPr lang="en-US" dirty="0" smtClean="0"/>
              <a:t>Database </a:t>
            </a:r>
          </a:p>
          <a:p>
            <a:r>
              <a:rPr lang="en-US" dirty="0" smtClean="0"/>
              <a:t>Each component plays a vital role in processing and analyzing resumes effectively.</a:t>
            </a:r>
          </a:p>
          <a:p>
            <a:endParaRPr lang="en-IN" dirty="0"/>
          </a:p>
        </p:txBody>
      </p:sp>
    </p:spTree>
    <p:extLst>
      <p:ext uri="{BB962C8B-B14F-4D97-AF65-F5344CB8AC3E}">
        <p14:creationId xmlns:p14="http://schemas.microsoft.com/office/powerpoint/2010/main" val="37089033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Technologies Used</a:t>
            </a:r>
            <a:endParaRPr lang="en-IN" dirty="0"/>
          </a:p>
        </p:txBody>
      </p:sp>
      <p:sp>
        <p:nvSpPr>
          <p:cNvPr id="3" name="Content Placeholder 2"/>
          <p:cNvSpPr>
            <a:spLocks noGrp="1"/>
          </p:cNvSpPr>
          <p:nvPr>
            <p:ph idx="1"/>
          </p:nvPr>
        </p:nvSpPr>
        <p:spPr/>
        <p:txBody>
          <a:bodyPr>
            <a:normAutofit fontScale="85000" lnSpcReduction="20000"/>
          </a:bodyPr>
          <a:lstStyle/>
          <a:p>
            <a:r>
              <a:rPr lang="en-IN" dirty="0" smtClean="0"/>
              <a:t>The project is developed using the following technologies:</a:t>
            </a:r>
          </a:p>
          <a:p>
            <a:r>
              <a:rPr lang="en-IN" dirty="0" smtClean="0"/>
              <a:t>Python </a:t>
            </a:r>
          </a:p>
          <a:p>
            <a:r>
              <a:rPr lang="en-IN" dirty="0" smtClean="0"/>
              <a:t>Machine Learning Algorithms </a:t>
            </a:r>
          </a:p>
          <a:p>
            <a:r>
              <a:rPr lang="en-IN" dirty="0" smtClean="0"/>
              <a:t>Natural Language Processing (NLP) </a:t>
            </a:r>
          </a:p>
          <a:p>
            <a:r>
              <a:rPr lang="en-IN" dirty="0" smtClean="0"/>
              <a:t>Libraries: </a:t>
            </a:r>
          </a:p>
          <a:p>
            <a:pPr lvl="1"/>
            <a:r>
              <a:rPr lang="en-IN" dirty="0" err="1" smtClean="0"/>
              <a:t>Scikit</a:t>
            </a:r>
            <a:r>
              <a:rPr lang="en-IN" dirty="0" smtClean="0"/>
              <a:t>-learn </a:t>
            </a:r>
          </a:p>
          <a:p>
            <a:pPr lvl="1"/>
            <a:r>
              <a:rPr lang="en-IN" dirty="0" smtClean="0"/>
              <a:t>NLTK / </a:t>
            </a:r>
            <a:r>
              <a:rPr lang="en-IN" dirty="0" err="1" smtClean="0"/>
              <a:t>spaCy</a:t>
            </a:r>
            <a:r>
              <a:rPr lang="en-IN" dirty="0" smtClean="0"/>
              <a:t> </a:t>
            </a:r>
          </a:p>
          <a:p>
            <a:pPr lvl="1"/>
            <a:r>
              <a:rPr lang="en-IN" dirty="0" smtClean="0"/>
              <a:t>Pandas </a:t>
            </a:r>
          </a:p>
          <a:p>
            <a:pPr lvl="1"/>
            <a:r>
              <a:rPr lang="en-IN" dirty="0" err="1" smtClean="0"/>
              <a:t>NumPy</a:t>
            </a:r>
            <a:r>
              <a:rPr lang="en-IN" dirty="0" smtClean="0"/>
              <a:t> </a:t>
            </a:r>
          </a:p>
          <a:p>
            <a:r>
              <a:rPr lang="en-IN" dirty="0" smtClean="0"/>
              <a:t>Google </a:t>
            </a:r>
            <a:r>
              <a:rPr lang="en-IN" dirty="0" err="1" smtClean="0"/>
              <a:t>Colab</a:t>
            </a:r>
            <a:r>
              <a:rPr lang="en-IN" dirty="0" smtClean="0"/>
              <a:t> </a:t>
            </a:r>
          </a:p>
          <a:p>
            <a:r>
              <a:rPr lang="en-IN" dirty="0" smtClean="0"/>
              <a:t>These technologies enable efficient data processing and model training.</a:t>
            </a:r>
          </a:p>
          <a:p>
            <a:endParaRPr lang="en-IN" dirty="0"/>
          </a:p>
        </p:txBody>
      </p:sp>
    </p:spTree>
    <p:extLst>
      <p:ext uri="{BB962C8B-B14F-4D97-AF65-F5344CB8AC3E}">
        <p14:creationId xmlns:p14="http://schemas.microsoft.com/office/powerpoint/2010/main" val="22297258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Data Collection</a:t>
            </a:r>
            <a:endParaRPr lang="en-IN" dirty="0"/>
          </a:p>
        </p:txBody>
      </p:sp>
      <p:sp>
        <p:nvSpPr>
          <p:cNvPr id="3" name="Content Placeholder 2"/>
          <p:cNvSpPr>
            <a:spLocks noGrp="1"/>
          </p:cNvSpPr>
          <p:nvPr>
            <p:ph idx="1"/>
          </p:nvPr>
        </p:nvSpPr>
        <p:spPr/>
        <p:txBody>
          <a:bodyPr>
            <a:normAutofit/>
          </a:bodyPr>
          <a:lstStyle/>
          <a:p>
            <a:r>
              <a:rPr lang="en-US" dirty="0" smtClean="0"/>
              <a:t>The dataset consists of resumes collected from various sources.</a:t>
            </a:r>
          </a:p>
          <a:p>
            <a:r>
              <a:rPr lang="en-US" dirty="0" smtClean="0"/>
              <a:t>Data includes:</a:t>
            </a:r>
          </a:p>
          <a:p>
            <a:r>
              <a:rPr lang="en-US" dirty="0" smtClean="0"/>
              <a:t>Candidate names </a:t>
            </a:r>
          </a:p>
          <a:p>
            <a:r>
              <a:rPr lang="en-US" dirty="0" smtClean="0"/>
              <a:t>Skills </a:t>
            </a:r>
          </a:p>
          <a:p>
            <a:r>
              <a:rPr lang="en-US" dirty="0" smtClean="0"/>
              <a:t>Education </a:t>
            </a:r>
          </a:p>
          <a:p>
            <a:r>
              <a:rPr lang="en-US" dirty="0" smtClean="0"/>
              <a:t>Work experience </a:t>
            </a:r>
          </a:p>
          <a:p>
            <a:r>
              <a:rPr lang="en-US" dirty="0" smtClean="0"/>
              <a:t>The data is preprocessed to remove noise and irrelevant information before analysis.</a:t>
            </a:r>
          </a:p>
          <a:p>
            <a:endParaRPr lang="en-IN" dirty="0"/>
          </a:p>
        </p:txBody>
      </p:sp>
    </p:spTree>
    <p:extLst>
      <p:ext uri="{BB962C8B-B14F-4D97-AF65-F5344CB8AC3E}">
        <p14:creationId xmlns:p14="http://schemas.microsoft.com/office/powerpoint/2010/main" val="31936070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Data </a:t>
            </a:r>
            <a:r>
              <a:rPr lang="en-IN" dirty="0" err="1" smtClean="0"/>
              <a:t>Preprocessing</a:t>
            </a:r>
            <a:endParaRPr lang="en-IN" dirty="0"/>
          </a:p>
        </p:txBody>
      </p:sp>
      <p:sp>
        <p:nvSpPr>
          <p:cNvPr id="3" name="Content Placeholder 2"/>
          <p:cNvSpPr>
            <a:spLocks noGrp="1"/>
          </p:cNvSpPr>
          <p:nvPr>
            <p:ph idx="1"/>
          </p:nvPr>
        </p:nvSpPr>
        <p:spPr/>
        <p:txBody>
          <a:bodyPr>
            <a:normAutofit lnSpcReduction="10000"/>
          </a:bodyPr>
          <a:lstStyle/>
          <a:p>
            <a:r>
              <a:rPr lang="en-US" dirty="0" smtClean="0"/>
              <a:t>Data preprocessing is a crucial step in the system.</a:t>
            </a:r>
          </a:p>
          <a:p>
            <a:r>
              <a:rPr lang="en-US" dirty="0" smtClean="0"/>
              <a:t>Steps include:</a:t>
            </a:r>
          </a:p>
          <a:p>
            <a:r>
              <a:rPr lang="en-US" dirty="0" smtClean="0"/>
              <a:t>Removing stop words </a:t>
            </a:r>
          </a:p>
          <a:p>
            <a:r>
              <a:rPr lang="en-US" dirty="0" smtClean="0"/>
              <a:t>Tokenization </a:t>
            </a:r>
          </a:p>
          <a:p>
            <a:r>
              <a:rPr lang="en-US" dirty="0" smtClean="0"/>
              <a:t>Lemmatization </a:t>
            </a:r>
          </a:p>
          <a:p>
            <a:r>
              <a:rPr lang="en-US" dirty="0" smtClean="0"/>
              <a:t>Removing special characters </a:t>
            </a:r>
          </a:p>
          <a:p>
            <a:r>
              <a:rPr lang="en-US" dirty="0" smtClean="0"/>
              <a:t>Converting text to lowercase </a:t>
            </a:r>
          </a:p>
          <a:p>
            <a:r>
              <a:rPr lang="en-US" dirty="0" smtClean="0"/>
              <a:t>This ensures clean and structured data for analysis.</a:t>
            </a:r>
          </a:p>
          <a:p>
            <a:endParaRPr lang="en-IN" dirty="0"/>
          </a:p>
        </p:txBody>
      </p:sp>
    </p:spTree>
    <p:extLst>
      <p:ext uri="{BB962C8B-B14F-4D97-AF65-F5344CB8AC3E}">
        <p14:creationId xmlns:p14="http://schemas.microsoft.com/office/powerpoint/2010/main" val="1448592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Resume Parsing</a:t>
            </a:r>
            <a:endParaRPr lang="en-IN" dirty="0"/>
          </a:p>
        </p:txBody>
      </p:sp>
      <p:sp>
        <p:nvSpPr>
          <p:cNvPr id="3" name="Content Placeholder 2"/>
          <p:cNvSpPr>
            <a:spLocks noGrp="1"/>
          </p:cNvSpPr>
          <p:nvPr>
            <p:ph idx="1"/>
          </p:nvPr>
        </p:nvSpPr>
        <p:spPr/>
        <p:txBody>
          <a:bodyPr/>
          <a:lstStyle/>
          <a:p>
            <a:r>
              <a:rPr lang="en-US" dirty="0" smtClean="0"/>
              <a:t>Resume parsing involves extracting important information such as:</a:t>
            </a:r>
          </a:p>
          <a:p>
            <a:r>
              <a:rPr lang="en-US" dirty="0" smtClean="0"/>
              <a:t>Name </a:t>
            </a:r>
          </a:p>
          <a:p>
            <a:r>
              <a:rPr lang="en-US" dirty="0" smtClean="0"/>
              <a:t>Skills </a:t>
            </a:r>
          </a:p>
          <a:p>
            <a:r>
              <a:rPr lang="en-US" dirty="0" smtClean="0"/>
              <a:t>Education </a:t>
            </a:r>
          </a:p>
          <a:p>
            <a:r>
              <a:rPr lang="en-US" dirty="0" smtClean="0"/>
              <a:t>Experience </a:t>
            </a:r>
          </a:p>
          <a:p>
            <a:r>
              <a:rPr lang="en-US" dirty="0" smtClean="0"/>
              <a:t>The system uses NLP techniques to identify and extract relevant entities from resumes.</a:t>
            </a:r>
          </a:p>
          <a:p>
            <a:endParaRPr lang="en-IN" dirty="0"/>
          </a:p>
        </p:txBody>
      </p:sp>
    </p:spTree>
    <p:extLst>
      <p:ext uri="{BB962C8B-B14F-4D97-AF65-F5344CB8AC3E}">
        <p14:creationId xmlns:p14="http://schemas.microsoft.com/office/powerpoint/2010/main" val="5687970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System Architecture</a:t>
            </a:r>
          </a:p>
        </p:txBody>
      </p:sp>
      <p:sp>
        <p:nvSpPr>
          <p:cNvPr id="3" name="Content Placeholder 2"/>
          <p:cNvSpPr>
            <a:spLocks noGrp="1"/>
          </p:cNvSpPr>
          <p:nvPr>
            <p:ph idx="1"/>
          </p:nvPr>
        </p:nvSpPr>
        <p:spPr/>
        <p:txBody>
          <a:bodyPr/>
          <a:lstStyle/>
          <a:p>
            <a:r>
              <a:rPr lang="en-IN" dirty="0"/>
              <a:t>User → Upload Resume → Text Extraction → NLP Processing</a:t>
            </a:r>
          </a:p>
          <a:p>
            <a:r>
              <a:rPr lang="en-IN" dirty="0"/>
              <a:t>     → Skill Matching → Similarity Score → Ranking → Output Dashboard</a:t>
            </a:r>
          </a:p>
        </p:txBody>
      </p:sp>
    </p:spTree>
    <p:extLst>
      <p:ext uri="{BB962C8B-B14F-4D97-AF65-F5344CB8AC3E}">
        <p14:creationId xmlns:p14="http://schemas.microsoft.com/office/powerpoint/2010/main" val="14987903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Technologies Used</a:t>
            </a:r>
          </a:p>
        </p:txBody>
      </p:sp>
      <p:sp>
        <p:nvSpPr>
          <p:cNvPr id="3" name="Content Placeholder 2"/>
          <p:cNvSpPr>
            <a:spLocks noGrp="1"/>
          </p:cNvSpPr>
          <p:nvPr>
            <p:ph idx="1"/>
          </p:nvPr>
        </p:nvSpPr>
        <p:spPr/>
        <p:txBody>
          <a:bodyPr/>
          <a:lstStyle/>
          <a:p>
            <a:r>
              <a:rPr lang="en-IN" dirty="0"/>
              <a:t>Python </a:t>
            </a:r>
            <a:endParaRPr lang="en-IN" dirty="0" smtClean="0"/>
          </a:p>
          <a:p>
            <a:r>
              <a:rPr lang="en-IN" dirty="0" smtClean="0"/>
              <a:t>NLP </a:t>
            </a:r>
            <a:r>
              <a:rPr lang="en-IN" dirty="0"/>
              <a:t>(NLTK / </a:t>
            </a:r>
            <a:r>
              <a:rPr lang="en-IN" dirty="0" err="1"/>
              <a:t>spaCy</a:t>
            </a:r>
            <a:r>
              <a:rPr lang="en-IN" dirty="0"/>
              <a:t>) </a:t>
            </a:r>
            <a:endParaRPr lang="en-IN" dirty="0" smtClean="0"/>
          </a:p>
          <a:p>
            <a:r>
              <a:rPr lang="en-IN" dirty="0" smtClean="0"/>
              <a:t>Machine </a:t>
            </a:r>
            <a:r>
              <a:rPr lang="en-IN" dirty="0"/>
              <a:t>Learning (</a:t>
            </a:r>
            <a:r>
              <a:rPr lang="en-IN" dirty="0" err="1"/>
              <a:t>Scikit</a:t>
            </a:r>
            <a:r>
              <a:rPr lang="en-IN" dirty="0"/>
              <a:t>-learn) </a:t>
            </a:r>
            <a:endParaRPr lang="en-IN" dirty="0" smtClean="0"/>
          </a:p>
          <a:p>
            <a:r>
              <a:rPr lang="en-IN" dirty="0" err="1" smtClean="0"/>
              <a:t>Streamlit</a:t>
            </a:r>
            <a:r>
              <a:rPr lang="en-IN" dirty="0" smtClean="0"/>
              <a:t> </a:t>
            </a:r>
            <a:r>
              <a:rPr lang="en-IN" dirty="0"/>
              <a:t>(UI) </a:t>
            </a:r>
            <a:endParaRPr lang="en-IN" dirty="0" smtClean="0"/>
          </a:p>
          <a:p>
            <a:r>
              <a:rPr lang="en-IN" dirty="0" smtClean="0"/>
              <a:t>PDF/DOCX </a:t>
            </a:r>
            <a:r>
              <a:rPr lang="en-IN" dirty="0"/>
              <a:t>parsing</a:t>
            </a:r>
          </a:p>
        </p:txBody>
      </p:sp>
    </p:spTree>
    <p:extLst>
      <p:ext uri="{BB962C8B-B14F-4D97-AF65-F5344CB8AC3E}">
        <p14:creationId xmlns:p14="http://schemas.microsoft.com/office/powerpoint/2010/main" val="26639348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Algorithm Used</a:t>
            </a:r>
          </a:p>
        </p:txBody>
      </p:sp>
      <p:sp>
        <p:nvSpPr>
          <p:cNvPr id="3" name="Content Placeholder 2"/>
          <p:cNvSpPr>
            <a:spLocks noGrp="1"/>
          </p:cNvSpPr>
          <p:nvPr>
            <p:ph idx="1"/>
          </p:nvPr>
        </p:nvSpPr>
        <p:spPr/>
        <p:txBody>
          <a:bodyPr/>
          <a:lstStyle/>
          <a:p>
            <a:r>
              <a:rPr lang="en-US" dirty="0"/>
              <a:t>TF-IDF (Text </a:t>
            </a:r>
            <a:r>
              <a:rPr lang="en-US" dirty="0" err="1"/>
              <a:t>vectorization</a:t>
            </a:r>
            <a:r>
              <a:rPr lang="en-US" dirty="0"/>
              <a:t>) </a:t>
            </a:r>
            <a:endParaRPr lang="en-US" dirty="0" smtClean="0"/>
          </a:p>
          <a:p>
            <a:r>
              <a:rPr lang="en-US" dirty="0" smtClean="0"/>
              <a:t>Cosine </a:t>
            </a:r>
            <a:r>
              <a:rPr lang="en-US" dirty="0"/>
              <a:t>Similarity</a:t>
            </a:r>
            <a:endParaRPr lang="en-IN" dirty="0"/>
          </a:p>
        </p:txBody>
      </p:sp>
    </p:spTree>
    <p:extLst>
      <p:ext uri="{BB962C8B-B14F-4D97-AF65-F5344CB8AC3E}">
        <p14:creationId xmlns:p14="http://schemas.microsoft.com/office/powerpoint/2010/main" val="34973699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Advantages</a:t>
            </a:r>
          </a:p>
        </p:txBody>
      </p:sp>
      <p:sp>
        <p:nvSpPr>
          <p:cNvPr id="3" name="Content Placeholder 2"/>
          <p:cNvSpPr>
            <a:spLocks noGrp="1"/>
          </p:cNvSpPr>
          <p:nvPr>
            <p:ph idx="1"/>
          </p:nvPr>
        </p:nvSpPr>
        <p:spPr/>
        <p:txBody>
          <a:bodyPr/>
          <a:lstStyle/>
          <a:p>
            <a:r>
              <a:rPr lang="en-US" dirty="0"/>
              <a:t>Saves time </a:t>
            </a:r>
            <a:endParaRPr lang="en-US" dirty="0" smtClean="0"/>
          </a:p>
          <a:p>
            <a:r>
              <a:rPr lang="en-US" dirty="0" smtClean="0"/>
              <a:t>Reduces </a:t>
            </a:r>
            <a:r>
              <a:rPr lang="en-US" dirty="0"/>
              <a:t>human effort </a:t>
            </a:r>
            <a:endParaRPr lang="en-US" dirty="0" smtClean="0"/>
          </a:p>
          <a:p>
            <a:r>
              <a:rPr lang="en-US" dirty="0" smtClean="0"/>
              <a:t>Scalable </a:t>
            </a:r>
          </a:p>
          <a:p>
            <a:r>
              <a:rPr lang="en-US" dirty="0" smtClean="0"/>
              <a:t>More </a:t>
            </a:r>
            <a:r>
              <a:rPr lang="en-US" dirty="0"/>
              <a:t>consistent evaluation</a:t>
            </a:r>
            <a:endParaRPr lang="en-IN" dirty="0"/>
          </a:p>
        </p:txBody>
      </p:sp>
    </p:spTree>
    <p:extLst>
      <p:ext uri="{BB962C8B-B14F-4D97-AF65-F5344CB8AC3E}">
        <p14:creationId xmlns:p14="http://schemas.microsoft.com/office/powerpoint/2010/main" val="34167888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Limitations</a:t>
            </a:r>
          </a:p>
        </p:txBody>
      </p:sp>
      <p:sp>
        <p:nvSpPr>
          <p:cNvPr id="3" name="Content Placeholder 2"/>
          <p:cNvSpPr>
            <a:spLocks noGrp="1"/>
          </p:cNvSpPr>
          <p:nvPr>
            <p:ph idx="1"/>
          </p:nvPr>
        </p:nvSpPr>
        <p:spPr/>
        <p:txBody>
          <a:bodyPr/>
          <a:lstStyle/>
          <a:p>
            <a:r>
              <a:rPr lang="en-US" dirty="0"/>
              <a:t>Depends on keyword </a:t>
            </a:r>
            <a:r>
              <a:rPr lang="en-US" dirty="0" smtClean="0"/>
              <a:t>matching</a:t>
            </a:r>
          </a:p>
          <a:p>
            <a:r>
              <a:rPr lang="en-US" dirty="0" smtClean="0"/>
              <a:t> </a:t>
            </a:r>
            <a:r>
              <a:rPr lang="en-US" dirty="0"/>
              <a:t>May miss context </a:t>
            </a:r>
            <a:endParaRPr lang="en-US" dirty="0" smtClean="0"/>
          </a:p>
          <a:p>
            <a:r>
              <a:rPr lang="en-US" dirty="0" smtClean="0"/>
              <a:t>Needs </a:t>
            </a:r>
            <a:r>
              <a:rPr lang="en-US" dirty="0"/>
              <a:t>good dataset</a:t>
            </a:r>
            <a:endParaRPr lang="en-IN" dirty="0"/>
          </a:p>
        </p:txBody>
      </p:sp>
    </p:spTree>
    <p:extLst>
      <p:ext uri="{BB962C8B-B14F-4D97-AF65-F5344CB8AC3E}">
        <p14:creationId xmlns:p14="http://schemas.microsoft.com/office/powerpoint/2010/main" val="18307487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Future Scope</a:t>
            </a:r>
          </a:p>
        </p:txBody>
      </p:sp>
      <p:sp>
        <p:nvSpPr>
          <p:cNvPr id="3" name="Content Placeholder 2"/>
          <p:cNvSpPr>
            <a:spLocks noGrp="1"/>
          </p:cNvSpPr>
          <p:nvPr>
            <p:ph idx="1"/>
          </p:nvPr>
        </p:nvSpPr>
        <p:spPr/>
        <p:txBody>
          <a:bodyPr/>
          <a:lstStyle/>
          <a:p>
            <a:r>
              <a:rPr lang="en-US" dirty="0"/>
              <a:t>Deep learning models (BERT</a:t>
            </a:r>
            <a:r>
              <a:rPr lang="en-US" dirty="0" smtClean="0"/>
              <a:t>)</a:t>
            </a:r>
          </a:p>
          <a:p>
            <a:r>
              <a:rPr lang="en-US" dirty="0" smtClean="0"/>
              <a:t> </a:t>
            </a:r>
            <a:r>
              <a:rPr lang="en-US" dirty="0"/>
              <a:t>Interview </a:t>
            </a:r>
            <a:r>
              <a:rPr lang="en-US" dirty="0" err="1" smtClean="0"/>
              <a:t>chatbot</a:t>
            </a:r>
            <a:endParaRPr lang="en-US" dirty="0" smtClean="0"/>
          </a:p>
          <a:p>
            <a:r>
              <a:rPr lang="en-US" dirty="0" smtClean="0"/>
              <a:t> </a:t>
            </a:r>
            <a:r>
              <a:rPr lang="en-US" dirty="0"/>
              <a:t>Automated email system </a:t>
            </a:r>
            <a:endParaRPr lang="en-US" dirty="0" smtClean="0"/>
          </a:p>
          <a:p>
            <a:r>
              <a:rPr lang="en-US" dirty="0" smtClean="0"/>
              <a:t>Bias </a:t>
            </a:r>
            <a:r>
              <a:rPr lang="en-US" dirty="0"/>
              <a:t>detection</a:t>
            </a:r>
            <a:endParaRPr lang="en-IN" dirty="0"/>
          </a:p>
        </p:txBody>
      </p:sp>
    </p:spTree>
    <p:extLst>
      <p:ext uri="{BB962C8B-B14F-4D97-AF65-F5344CB8AC3E}">
        <p14:creationId xmlns:p14="http://schemas.microsoft.com/office/powerpoint/2010/main" val="1175946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Simple Skill Extraction</a:t>
            </a:r>
          </a:p>
        </p:txBody>
      </p:sp>
      <p:sp>
        <p:nvSpPr>
          <p:cNvPr id="3" name="Content Placeholder 2"/>
          <p:cNvSpPr>
            <a:spLocks noGrp="1"/>
          </p:cNvSpPr>
          <p:nvPr>
            <p:ph idx="1"/>
          </p:nvPr>
        </p:nvSpPr>
        <p:spPr/>
        <p:txBody>
          <a:bodyPr>
            <a:normAutofit fontScale="77500" lnSpcReduction="20000"/>
          </a:bodyPr>
          <a:lstStyle/>
          <a:p>
            <a:r>
              <a:rPr lang="en-IN" dirty="0" err="1"/>
              <a:t>skills_db</a:t>
            </a:r>
            <a:r>
              <a:rPr lang="en-IN" dirty="0"/>
              <a:t> = ["python", "java", "</a:t>
            </a:r>
            <a:r>
              <a:rPr lang="en-IN" dirty="0" err="1"/>
              <a:t>sql</a:t>
            </a:r>
            <a:r>
              <a:rPr lang="en-IN" dirty="0"/>
              <a:t>", "machine learning", "data analysis"]</a:t>
            </a:r>
          </a:p>
          <a:p>
            <a:endParaRPr lang="en-IN" dirty="0"/>
          </a:p>
          <a:p>
            <a:r>
              <a:rPr lang="en-IN" dirty="0" err="1"/>
              <a:t>def</a:t>
            </a:r>
            <a:r>
              <a:rPr lang="en-IN" dirty="0"/>
              <a:t> </a:t>
            </a:r>
            <a:r>
              <a:rPr lang="en-IN" dirty="0" err="1"/>
              <a:t>extract_skills</a:t>
            </a:r>
            <a:r>
              <a:rPr lang="en-IN" dirty="0"/>
              <a:t>(text):</a:t>
            </a:r>
          </a:p>
          <a:p>
            <a:r>
              <a:rPr lang="en-IN" dirty="0"/>
              <a:t>    found = []</a:t>
            </a:r>
          </a:p>
          <a:p>
            <a:r>
              <a:rPr lang="en-IN" dirty="0"/>
              <a:t>    text = </a:t>
            </a:r>
            <a:r>
              <a:rPr lang="en-IN" dirty="0" err="1"/>
              <a:t>text.lower</a:t>
            </a:r>
            <a:r>
              <a:rPr lang="en-IN" dirty="0"/>
              <a:t>()</a:t>
            </a:r>
          </a:p>
          <a:p>
            <a:r>
              <a:rPr lang="en-IN" dirty="0"/>
              <a:t>    </a:t>
            </a:r>
          </a:p>
          <a:p>
            <a:r>
              <a:rPr lang="en-IN" dirty="0"/>
              <a:t>    for skill in </a:t>
            </a:r>
            <a:r>
              <a:rPr lang="en-IN" dirty="0" err="1"/>
              <a:t>skills_db</a:t>
            </a:r>
            <a:r>
              <a:rPr lang="en-IN" dirty="0"/>
              <a:t>:</a:t>
            </a:r>
          </a:p>
          <a:p>
            <a:r>
              <a:rPr lang="en-IN" dirty="0"/>
              <a:t>        if skill in text:</a:t>
            </a:r>
          </a:p>
          <a:p>
            <a:r>
              <a:rPr lang="en-IN" dirty="0"/>
              <a:t>            </a:t>
            </a:r>
            <a:r>
              <a:rPr lang="en-IN" dirty="0" err="1"/>
              <a:t>found.append</a:t>
            </a:r>
            <a:r>
              <a:rPr lang="en-IN" dirty="0"/>
              <a:t>(skill)</a:t>
            </a:r>
          </a:p>
          <a:p>
            <a:r>
              <a:rPr lang="en-IN" dirty="0"/>
              <a:t>    </a:t>
            </a:r>
          </a:p>
          <a:p>
            <a:r>
              <a:rPr lang="en-IN" dirty="0"/>
              <a:t>    return found</a:t>
            </a:r>
          </a:p>
          <a:p>
            <a:endParaRPr lang="en-IN" dirty="0"/>
          </a:p>
          <a:p>
            <a:r>
              <a:rPr lang="en-IN" dirty="0"/>
              <a:t>print(</a:t>
            </a:r>
            <a:r>
              <a:rPr lang="en-IN" dirty="0" err="1"/>
              <a:t>extract_skills</a:t>
            </a:r>
            <a:r>
              <a:rPr lang="en-IN" dirty="0"/>
              <a:t>(resume1))</a:t>
            </a:r>
          </a:p>
        </p:txBody>
      </p:sp>
    </p:spTree>
    <p:extLst>
      <p:ext uri="{BB962C8B-B14F-4D97-AF65-F5344CB8AC3E}">
        <p14:creationId xmlns:p14="http://schemas.microsoft.com/office/powerpoint/2010/main" val="31007052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Feature Extraction</a:t>
            </a:r>
            <a:endParaRPr lang="en-IN" dirty="0"/>
          </a:p>
        </p:txBody>
      </p:sp>
      <p:sp>
        <p:nvSpPr>
          <p:cNvPr id="3" name="Content Placeholder 2"/>
          <p:cNvSpPr>
            <a:spLocks noGrp="1"/>
          </p:cNvSpPr>
          <p:nvPr>
            <p:ph idx="1"/>
          </p:nvPr>
        </p:nvSpPr>
        <p:spPr/>
        <p:txBody>
          <a:bodyPr/>
          <a:lstStyle/>
          <a:p>
            <a:r>
              <a:rPr lang="en-US" dirty="0" smtClean="0"/>
              <a:t>Feature extraction converts text data into numerical form.</a:t>
            </a:r>
          </a:p>
          <a:p>
            <a:r>
              <a:rPr lang="en-US" dirty="0" smtClean="0"/>
              <a:t>Techniques used:</a:t>
            </a:r>
          </a:p>
          <a:p>
            <a:r>
              <a:rPr lang="en-US" dirty="0" smtClean="0"/>
              <a:t>TF-IDF </a:t>
            </a:r>
          </a:p>
          <a:p>
            <a:r>
              <a:rPr lang="en-US" dirty="0" smtClean="0"/>
              <a:t>Bag of Words </a:t>
            </a:r>
          </a:p>
          <a:p>
            <a:r>
              <a:rPr lang="en-US" dirty="0" smtClean="0"/>
              <a:t>These techniques help in identifying important keywords and patterns in resumes.</a:t>
            </a:r>
          </a:p>
          <a:p>
            <a:endParaRPr lang="en-IN" dirty="0"/>
          </a:p>
        </p:txBody>
      </p:sp>
    </p:spTree>
    <p:extLst>
      <p:ext uri="{BB962C8B-B14F-4D97-AF65-F5344CB8AC3E}">
        <p14:creationId xmlns:p14="http://schemas.microsoft.com/office/powerpoint/2010/main" val="3469599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Machine Learning Model</a:t>
            </a:r>
            <a:endParaRPr lang="en-IN" dirty="0"/>
          </a:p>
        </p:txBody>
      </p:sp>
      <p:sp>
        <p:nvSpPr>
          <p:cNvPr id="3" name="Content Placeholder 2"/>
          <p:cNvSpPr>
            <a:spLocks noGrp="1"/>
          </p:cNvSpPr>
          <p:nvPr>
            <p:ph idx="1"/>
          </p:nvPr>
        </p:nvSpPr>
        <p:spPr/>
        <p:txBody>
          <a:bodyPr/>
          <a:lstStyle/>
          <a:p>
            <a:r>
              <a:rPr lang="en-US" dirty="0" smtClean="0"/>
              <a:t>The system uses machine learning models to classify and rank resumes.</a:t>
            </a:r>
          </a:p>
          <a:p>
            <a:r>
              <a:rPr lang="en-US" dirty="0" smtClean="0"/>
              <a:t>Possible models:</a:t>
            </a:r>
          </a:p>
          <a:p>
            <a:r>
              <a:rPr lang="en-US" dirty="0" smtClean="0"/>
              <a:t>Logistic Regression </a:t>
            </a:r>
          </a:p>
          <a:p>
            <a:r>
              <a:rPr lang="en-US" dirty="0" smtClean="0"/>
              <a:t>Naive Bayes </a:t>
            </a:r>
          </a:p>
          <a:p>
            <a:r>
              <a:rPr lang="en-US" dirty="0" smtClean="0"/>
              <a:t>Support Vector Machine </a:t>
            </a:r>
          </a:p>
          <a:p>
            <a:r>
              <a:rPr lang="en-US" dirty="0" smtClean="0"/>
              <a:t>The model is trained on labeled data to improve prediction accuracy.</a:t>
            </a:r>
          </a:p>
          <a:p>
            <a:endParaRPr lang="en-IN" dirty="0"/>
          </a:p>
        </p:txBody>
      </p:sp>
    </p:spTree>
    <p:extLst>
      <p:ext uri="{BB962C8B-B14F-4D97-AF65-F5344CB8AC3E}">
        <p14:creationId xmlns:p14="http://schemas.microsoft.com/office/powerpoint/2010/main" val="38442966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Candidate Ranking</a:t>
            </a:r>
            <a:endParaRPr lang="en-IN" dirty="0"/>
          </a:p>
        </p:txBody>
      </p:sp>
      <p:sp>
        <p:nvSpPr>
          <p:cNvPr id="3" name="Content Placeholder 2"/>
          <p:cNvSpPr>
            <a:spLocks noGrp="1"/>
          </p:cNvSpPr>
          <p:nvPr>
            <p:ph idx="1"/>
          </p:nvPr>
        </p:nvSpPr>
        <p:spPr/>
        <p:txBody>
          <a:bodyPr/>
          <a:lstStyle/>
          <a:p>
            <a:r>
              <a:rPr lang="en-US" dirty="0" smtClean="0"/>
              <a:t>Candidates are ranked based on:</a:t>
            </a:r>
          </a:p>
          <a:p>
            <a:r>
              <a:rPr lang="en-US" dirty="0" smtClean="0"/>
              <a:t>Skill match </a:t>
            </a:r>
          </a:p>
          <a:p>
            <a:r>
              <a:rPr lang="en-US" dirty="0" smtClean="0"/>
              <a:t>Experience </a:t>
            </a:r>
          </a:p>
          <a:p>
            <a:r>
              <a:rPr lang="en-US" dirty="0" smtClean="0"/>
              <a:t>Education </a:t>
            </a:r>
          </a:p>
          <a:p>
            <a:r>
              <a:rPr lang="en-US" dirty="0" smtClean="0"/>
              <a:t>The system assigns scores and ranks candidates accordingly.</a:t>
            </a:r>
          </a:p>
          <a:p>
            <a:endParaRPr lang="en-IN" dirty="0"/>
          </a:p>
        </p:txBody>
      </p:sp>
    </p:spTree>
    <p:extLst>
      <p:ext uri="{BB962C8B-B14F-4D97-AF65-F5344CB8AC3E}">
        <p14:creationId xmlns:p14="http://schemas.microsoft.com/office/powerpoint/2010/main" val="26792941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Workflow</a:t>
            </a:r>
            <a:endParaRPr lang="en-IN" dirty="0"/>
          </a:p>
        </p:txBody>
      </p:sp>
      <p:sp>
        <p:nvSpPr>
          <p:cNvPr id="3" name="Content Placeholder 2"/>
          <p:cNvSpPr>
            <a:spLocks noGrp="1"/>
          </p:cNvSpPr>
          <p:nvPr>
            <p:ph idx="1"/>
          </p:nvPr>
        </p:nvSpPr>
        <p:spPr/>
        <p:txBody>
          <a:bodyPr>
            <a:normAutofit/>
          </a:bodyPr>
          <a:lstStyle/>
          <a:p>
            <a:r>
              <a:rPr lang="en-US" dirty="0" smtClean="0"/>
              <a:t>The workflow of the system:</a:t>
            </a:r>
          </a:p>
          <a:p>
            <a:r>
              <a:rPr lang="en-US" dirty="0" smtClean="0"/>
              <a:t>Resume upload </a:t>
            </a:r>
          </a:p>
          <a:p>
            <a:r>
              <a:rPr lang="en-US" dirty="0" smtClean="0"/>
              <a:t>Text extraction </a:t>
            </a:r>
          </a:p>
          <a:p>
            <a:r>
              <a:rPr lang="en-US" dirty="0" smtClean="0"/>
              <a:t>Data preprocessing </a:t>
            </a:r>
          </a:p>
          <a:p>
            <a:r>
              <a:rPr lang="en-US" dirty="0" smtClean="0"/>
              <a:t>Feature extraction </a:t>
            </a:r>
          </a:p>
          <a:p>
            <a:r>
              <a:rPr lang="en-US" dirty="0" smtClean="0"/>
              <a:t>Model prediction </a:t>
            </a:r>
          </a:p>
          <a:p>
            <a:r>
              <a:rPr lang="en-US" dirty="0" smtClean="0"/>
              <a:t>Ranking </a:t>
            </a:r>
          </a:p>
          <a:p>
            <a:r>
              <a:rPr lang="en-US" dirty="0" smtClean="0"/>
              <a:t>Result display</a:t>
            </a:r>
          </a:p>
          <a:p>
            <a:endParaRPr lang="en-IN" dirty="0"/>
          </a:p>
        </p:txBody>
      </p:sp>
    </p:spTree>
    <p:extLst>
      <p:ext uri="{BB962C8B-B14F-4D97-AF65-F5344CB8AC3E}">
        <p14:creationId xmlns:p14="http://schemas.microsoft.com/office/powerpoint/2010/main" val="30469402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Advantages</a:t>
            </a:r>
            <a:endParaRPr lang="en-IN" dirty="0"/>
          </a:p>
        </p:txBody>
      </p:sp>
      <p:sp>
        <p:nvSpPr>
          <p:cNvPr id="3" name="Content Placeholder 2"/>
          <p:cNvSpPr>
            <a:spLocks noGrp="1"/>
          </p:cNvSpPr>
          <p:nvPr>
            <p:ph idx="1"/>
          </p:nvPr>
        </p:nvSpPr>
        <p:spPr/>
        <p:txBody>
          <a:bodyPr/>
          <a:lstStyle/>
          <a:p>
            <a:r>
              <a:rPr lang="en-US" dirty="0" smtClean="0"/>
              <a:t>Saves time </a:t>
            </a:r>
          </a:p>
          <a:p>
            <a:r>
              <a:rPr lang="en-US" dirty="0" smtClean="0"/>
              <a:t>Reduces human bias </a:t>
            </a:r>
          </a:p>
          <a:p>
            <a:r>
              <a:rPr lang="en-US" dirty="0" smtClean="0"/>
              <a:t>Improves accuracy </a:t>
            </a:r>
          </a:p>
          <a:p>
            <a:r>
              <a:rPr lang="en-US" dirty="0" smtClean="0"/>
              <a:t>Handles large data </a:t>
            </a:r>
          </a:p>
          <a:p>
            <a:r>
              <a:rPr lang="en-US" dirty="0" smtClean="0"/>
              <a:t>Cost-effective </a:t>
            </a:r>
          </a:p>
          <a:p>
            <a:endParaRPr lang="en-IN" dirty="0"/>
          </a:p>
        </p:txBody>
      </p:sp>
    </p:spTree>
    <p:extLst>
      <p:ext uri="{BB962C8B-B14F-4D97-AF65-F5344CB8AC3E}">
        <p14:creationId xmlns:p14="http://schemas.microsoft.com/office/powerpoint/2010/main" val="40007312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Limitations</a:t>
            </a:r>
            <a:endParaRPr lang="en-IN" dirty="0"/>
          </a:p>
        </p:txBody>
      </p:sp>
      <p:sp>
        <p:nvSpPr>
          <p:cNvPr id="3" name="Content Placeholder 2"/>
          <p:cNvSpPr>
            <a:spLocks noGrp="1"/>
          </p:cNvSpPr>
          <p:nvPr>
            <p:ph idx="1"/>
          </p:nvPr>
        </p:nvSpPr>
        <p:spPr/>
        <p:txBody>
          <a:bodyPr/>
          <a:lstStyle/>
          <a:p>
            <a:r>
              <a:rPr lang="en-US" dirty="0" smtClean="0"/>
              <a:t>Depends on data quality </a:t>
            </a:r>
          </a:p>
          <a:p>
            <a:r>
              <a:rPr lang="en-US" dirty="0" smtClean="0"/>
              <a:t>May not understand context fully </a:t>
            </a:r>
          </a:p>
          <a:p>
            <a:r>
              <a:rPr lang="en-US" dirty="0" smtClean="0"/>
              <a:t>Requires training data </a:t>
            </a:r>
          </a:p>
          <a:p>
            <a:r>
              <a:rPr lang="en-US" dirty="0" smtClean="0"/>
              <a:t>Limited to predefined skills </a:t>
            </a:r>
          </a:p>
          <a:p>
            <a:endParaRPr lang="en-IN" dirty="0"/>
          </a:p>
        </p:txBody>
      </p:sp>
    </p:spTree>
    <p:extLst>
      <p:ext uri="{BB962C8B-B14F-4D97-AF65-F5344CB8AC3E}">
        <p14:creationId xmlns:p14="http://schemas.microsoft.com/office/powerpoint/2010/main" val="13820728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Applications</a:t>
            </a:r>
            <a:endParaRPr lang="en-IN" dirty="0"/>
          </a:p>
        </p:txBody>
      </p:sp>
      <p:sp>
        <p:nvSpPr>
          <p:cNvPr id="3" name="Content Placeholder 2"/>
          <p:cNvSpPr>
            <a:spLocks noGrp="1"/>
          </p:cNvSpPr>
          <p:nvPr>
            <p:ph idx="1"/>
          </p:nvPr>
        </p:nvSpPr>
        <p:spPr/>
        <p:txBody>
          <a:bodyPr/>
          <a:lstStyle/>
          <a:p>
            <a:r>
              <a:rPr lang="en-US" dirty="0" smtClean="0"/>
              <a:t>Corporate hiring </a:t>
            </a:r>
          </a:p>
          <a:p>
            <a:r>
              <a:rPr lang="en-US" dirty="0" smtClean="0"/>
              <a:t>Recruitment agencies </a:t>
            </a:r>
          </a:p>
          <a:p>
            <a:r>
              <a:rPr lang="en-US" dirty="0" smtClean="0"/>
              <a:t>Campus placements </a:t>
            </a:r>
          </a:p>
          <a:p>
            <a:r>
              <a:rPr lang="en-US" dirty="0" smtClean="0"/>
              <a:t>Job portals</a:t>
            </a:r>
            <a:endParaRPr lang="en-IN" dirty="0"/>
          </a:p>
        </p:txBody>
      </p:sp>
    </p:spTree>
    <p:extLst>
      <p:ext uri="{BB962C8B-B14F-4D97-AF65-F5344CB8AC3E}">
        <p14:creationId xmlns:p14="http://schemas.microsoft.com/office/powerpoint/2010/main" val="6154345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Future Scope</a:t>
            </a:r>
            <a:endParaRPr lang="en-IN" dirty="0"/>
          </a:p>
        </p:txBody>
      </p:sp>
      <p:sp>
        <p:nvSpPr>
          <p:cNvPr id="3" name="Content Placeholder 2"/>
          <p:cNvSpPr>
            <a:spLocks noGrp="1"/>
          </p:cNvSpPr>
          <p:nvPr>
            <p:ph idx="1"/>
          </p:nvPr>
        </p:nvSpPr>
        <p:spPr/>
        <p:txBody>
          <a:bodyPr/>
          <a:lstStyle/>
          <a:p>
            <a:r>
              <a:rPr lang="en-US" dirty="0" smtClean="0"/>
              <a:t>Integration with job portals </a:t>
            </a:r>
          </a:p>
          <a:p>
            <a:r>
              <a:rPr lang="en-US" dirty="0" smtClean="0"/>
              <a:t>Deep learning models </a:t>
            </a:r>
          </a:p>
          <a:p>
            <a:r>
              <a:rPr lang="en-US" dirty="0" smtClean="0"/>
              <a:t>Real-time analytics </a:t>
            </a:r>
          </a:p>
          <a:p>
            <a:r>
              <a:rPr lang="en-US" dirty="0" err="1" smtClean="0"/>
              <a:t>Chatbot</a:t>
            </a:r>
            <a:r>
              <a:rPr lang="en-US" dirty="0" smtClean="0"/>
              <a:t> integration </a:t>
            </a:r>
          </a:p>
          <a:p>
            <a:r>
              <a:rPr lang="en-US" dirty="0" smtClean="0"/>
              <a:t>Resume recommendation system</a:t>
            </a:r>
            <a:endParaRPr lang="en-IN" dirty="0"/>
          </a:p>
        </p:txBody>
      </p:sp>
    </p:spTree>
    <p:extLst>
      <p:ext uri="{BB962C8B-B14F-4D97-AF65-F5344CB8AC3E}">
        <p14:creationId xmlns:p14="http://schemas.microsoft.com/office/powerpoint/2010/main" val="18649471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Conclusion</a:t>
            </a:r>
            <a:endParaRPr lang="en-IN" dirty="0"/>
          </a:p>
        </p:txBody>
      </p:sp>
      <p:sp>
        <p:nvSpPr>
          <p:cNvPr id="3" name="Content Placeholder 2"/>
          <p:cNvSpPr>
            <a:spLocks noGrp="1"/>
          </p:cNvSpPr>
          <p:nvPr>
            <p:ph idx="1"/>
          </p:nvPr>
        </p:nvSpPr>
        <p:spPr/>
        <p:txBody>
          <a:bodyPr/>
          <a:lstStyle/>
          <a:p>
            <a:r>
              <a:rPr lang="en-US" dirty="0" smtClean="0"/>
              <a:t>The AI-Based Recruitment and Resume Screening Application provides an efficient and intelligent solution to modern recruitment challenges.</a:t>
            </a:r>
          </a:p>
          <a:p>
            <a:r>
              <a:rPr lang="en-US" dirty="0" smtClean="0"/>
              <a:t>It reduces manual effort, improves accuracy, and ensures fair candidate evaluation. With further enhancements, it can become a powerful tool for organizations worldwide.</a:t>
            </a:r>
          </a:p>
          <a:p>
            <a:endParaRPr lang="en-IN" dirty="0"/>
          </a:p>
        </p:txBody>
      </p:sp>
    </p:spTree>
    <p:extLst>
      <p:ext uri="{BB962C8B-B14F-4D97-AF65-F5344CB8AC3E}">
        <p14:creationId xmlns:p14="http://schemas.microsoft.com/office/powerpoint/2010/main" val="14054528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dirty="0" smtClean="0"/>
              <a:t>Resume Upload &amp; Text Extraction</a:t>
            </a:r>
            <a:endParaRPr lang="en-IN" dirty="0"/>
          </a:p>
        </p:txBody>
      </p:sp>
      <p:sp>
        <p:nvSpPr>
          <p:cNvPr id="3" name="Content Placeholder 2"/>
          <p:cNvSpPr>
            <a:spLocks noGrp="1"/>
          </p:cNvSpPr>
          <p:nvPr>
            <p:ph idx="1"/>
          </p:nvPr>
        </p:nvSpPr>
        <p:spPr/>
        <p:txBody>
          <a:bodyPr>
            <a:normAutofit lnSpcReduction="10000"/>
          </a:bodyPr>
          <a:lstStyle/>
          <a:p>
            <a:r>
              <a:rPr lang="en-IN" dirty="0" smtClean="0"/>
              <a:t>import PyPDF2</a:t>
            </a:r>
          </a:p>
          <a:p>
            <a:endParaRPr lang="en-IN" dirty="0" smtClean="0"/>
          </a:p>
          <a:p>
            <a:r>
              <a:rPr lang="en-IN" dirty="0" err="1" smtClean="0"/>
              <a:t>def</a:t>
            </a:r>
            <a:r>
              <a:rPr lang="en-IN" dirty="0" smtClean="0"/>
              <a:t> </a:t>
            </a:r>
            <a:r>
              <a:rPr lang="en-IN" dirty="0" err="1" smtClean="0"/>
              <a:t>extract_text_from_pdf</a:t>
            </a:r>
            <a:r>
              <a:rPr lang="en-IN" dirty="0" smtClean="0"/>
              <a:t>(file):</a:t>
            </a:r>
          </a:p>
          <a:p>
            <a:r>
              <a:rPr lang="en-IN" dirty="0" smtClean="0"/>
              <a:t>    text = ""</a:t>
            </a:r>
          </a:p>
          <a:p>
            <a:r>
              <a:rPr lang="en-IN" dirty="0" smtClean="0"/>
              <a:t>    </a:t>
            </a:r>
            <a:r>
              <a:rPr lang="en-IN" dirty="0" err="1" smtClean="0"/>
              <a:t>pdf_reader</a:t>
            </a:r>
            <a:r>
              <a:rPr lang="en-IN" dirty="0" smtClean="0"/>
              <a:t> = PyPDF2.PdfReader(file)</a:t>
            </a:r>
          </a:p>
          <a:p>
            <a:r>
              <a:rPr lang="en-IN" dirty="0" smtClean="0"/>
              <a:t>    </a:t>
            </a:r>
          </a:p>
          <a:p>
            <a:r>
              <a:rPr lang="en-IN" dirty="0" smtClean="0"/>
              <a:t>    for page in </a:t>
            </a:r>
            <a:r>
              <a:rPr lang="en-IN" dirty="0" err="1" smtClean="0"/>
              <a:t>pdf_reader.pages</a:t>
            </a:r>
            <a:r>
              <a:rPr lang="en-IN" dirty="0" smtClean="0"/>
              <a:t>:</a:t>
            </a:r>
          </a:p>
          <a:p>
            <a:r>
              <a:rPr lang="en-IN" dirty="0" smtClean="0"/>
              <a:t>        text += </a:t>
            </a:r>
            <a:r>
              <a:rPr lang="en-IN" dirty="0" err="1" smtClean="0"/>
              <a:t>page.extract_text</a:t>
            </a:r>
            <a:r>
              <a:rPr lang="en-IN" dirty="0" smtClean="0"/>
              <a:t>()</a:t>
            </a:r>
          </a:p>
          <a:p>
            <a:r>
              <a:rPr lang="en-IN" dirty="0" smtClean="0"/>
              <a:t>        </a:t>
            </a:r>
          </a:p>
          <a:p>
            <a:r>
              <a:rPr lang="en-IN" dirty="0" smtClean="0"/>
              <a:t>    return text</a:t>
            </a:r>
            <a:endParaRPr lang="en-IN" dirty="0"/>
          </a:p>
        </p:txBody>
      </p:sp>
    </p:spTree>
    <p:extLst>
      <p:ext uri="{BB962C8B-B14F-4D97-AF65-F5344CB8AC3E}">
        <p14:creationId xmlns:p14="http://schemas.microsoft.com/office/powerpoint/2010/main" val="9473418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Data </a:t>
            </a:r>
            <a:r>
              <a:rPr lang="en-IN" dirty="0" err="1" smtClean="0"/>
              <a:t>Preprocessing</a:t>
            </a:r>
            <a:endParaRPr lang="en-IN" dirty="0"/>
          </a:p>
        </p:txBody>
      </p:sp>
      <p:sp>
        <p:nvSpPr>
          <p:cNvPr id="3" name="Content Placeholder 2"/>
          <p:cNvSpPr>
            <a:spLocks noGrp="1"/>
          </p:cNvSpPr>
          <p:nvPr>
            <p:ph idx="1"/>
          </p:nvPr>
        </p:nvSpPr>
        <p:spPr/>
        <p:txBody>
          <a:bodyPr>
            <a:normAutofit fontScale="70000" lnSpcReduction="20000"/>
          </a:bodyPr>
          <a:lstStyle/>
          <a:p>
            <a:r>
              <a:rPr lang="en-IN" dirty="0" smtClean="0"/>
              <a:t>import re</a:t>
            </a:r>
          </a:p>
          <a:p>
            <a:r>
              <a:rPr lang="en-IN" dirty="0" smtClean="0"/>
              <a:t>import </a:t>
            </a:r>
            <a:r>
              <a:rPr lang="en-IN" dirty="0" err="1" smtClean="0"/>
              <a:t>nltk</a:t>
            </a:r>
            <a:endParaRPr lang="en-IN" dirty="0" smtClean="0"/>
          </a:p>
          <a:p>
            <a:r>
              <a:rPr lang="en-IN" dirty="0" smtClean="0"/>
              <a:t>from </a:t>
            </a:r>
            <a:r>
              <a:rPr lang="en-IN" dirty="0" err="1" smtClean="0"/>
              <a:t>nltk.corpus</a:t>
            </a:r>
            <a:r>
              <a:rPr lang="en-IN" dirty="0" smtClean="0"/>
              <a:t> import </a:t>
            </a:r>
            <a:r>
              <a:rPr lang="en-IN" dirty="0" err="1" smtClean="0"/>
              <a:t>stopwords</a:t>
            </a:r>
            <a:endParaRPr lang="en-IN" dirty="0" smtClean="0"/>
          </a:p>
          <a:p>
            <a:endParaRPr lang="en-IN" dirty="0" smtClean="0"/>
          </a:p>
          <a:p>
            <a:r>
              <a:rPr lang="en-IN" dirty="0" err="1" smtClean="0"/>
              <a:t>nltk.download</a:t>
            </a:r>
            <a:r>
              <a:rPr lang="en-IN" dirty="0" smtClean="0"/>
              <a:t>('</a:t>
            </a:r>
            <a:r>
              <a:rPr lang="en-IN" dirty="0" err="1" smtClean="0"/>
              <a:t>stopwords</a:t>
            </a:r>
            <a:r>
              <a:rPr lang="en-IN" dirty="0" smtClean="0"/>
              <a:t>')</a:t>
            </a:r>
          </a:p>
          <a:p>
            <a:endParaRPr lang="en-IN" dirty="0" smtClean="0"/>
          </a:p>
          <a:p>
            <a:r>
              <a:rPr lang="en-IN" dirty="0" err="1" smtClean="0"/>
              <a:t>def</a:t>
            </a:r>
            <a:r>
              <a:rPr lang="en-IN" dirty="0" smtClean="0"/>
              <a:t> </a:t>
            </a:r>
            <a:r>
              <a:rPr lang="en-IN" dirty="0" err="1" smtClean="0"/>
              <a:t>preprocess_text</a:t>
            </a:r>
            <a:r>
              <a:rPr lang="en-IN" dirty="0" smtClean="0"/>
              <a:t>(text):</a:t>
            </a:r>
          </a:p>
          <a:p>
            <a:r>
              <a:rPr lang="en-IN" dirty="0" smtClean="0"/>
              <a:t>    text = </a:t>
            </a:r>
            <a:r>
              <a:rPr lang="en-IN" dirty="0" err="1" smtClean="0"/>
              <a:t>text.lower</a:t>
            </a:r>
            <a:r>
              <a:rPr lang="en-IN" dirty="0" smtClean="0"/>
              <a:t>()</a:t>
            </a:r>
          </a:p>
          <a:p>
            <a:r>
              <a:rPr lang="en-IN" dirty="0" smtClean="0"/>
              <a:t>    text = </a:t>
            </a:r>
            <a:r>
              <a:rPr lang="en-IN" dirty="0" err="1" smtClean="0"/>
              <a:t>re.sub</a:t>
            </a:r>
            <a:r>
              <a:rPr lang="en-IN" dirty="0" smtClean="0"/>
              <a:t>(r'\W', ' ', text)</a:t>
            </a:r>
          </a:p>
          <a:p>
            <a:r>
              <a:rPr lang="en-IN" dirty="0" smtClean="0"/>
              <a:t>    </a:t>
            </a:r>
          </a:p>
          <a:p>
            <a:r>
              <a:rPr lang="en-IN" dirty="0" smtClean="0"/>
              <a:t>    words = </a:t>
            </a:r>
            <a:r>
              <a:rPr lang="en-IN" dirty="0" err="1" smtClean="0"/>
              <a:t>text.split</a:t>
            </a:r>
            <a:r>
              <a:rPr lang="en-IN" dirty="0" smtClean="0"/>
              <a:t>()</a:t>
            </a:r>
          </a:p>
          <a:p>
            <a:r>
              <a:rPr lang="en-IN" dirty="0" smtClean="0"/>
              <a:t>    words = [word for word in words if word not in </a:t>
            </a:r>
            <a:r>
              <a:rPr lang="en-IN" dirty="0" err="1" smtClean="0"/>
              <a:t>stopwords.words</a:t>
            </a:r>
            <a:r>
              <a:rPr lang="en-IN" dirty="0" smtClean="0"/>
              <a:t>('</a:t>
            </a:r>
            <a:r>
              <a:rPr lang="en-IN" dirty="0" err="1" smtClean="0"/>
              <a:t>english</a:t>
            </a:r>
            <a:r>
              <a:rPr lang="en-IN" dirty="0" smtClean="0"/>
              <a:t>')]</a:t>
            </a:r>
          </a:p>
          <a:p>
            <a:r>
              <a:rPr lang="en-IN" dirty="0" smtClean="0"/>
              <a:t>    </a:t>
            </a:r>
          </a:p>
          <a:p>
            <a:r>
              <a:rPr lang="en-IN" dirty="0" smtClean="0"/>
              <a:t>    return " ".join(words)</a:t>
            </a:r>
            <a:endParaRPr lang="en-IN" dirty="0"/>
          </a:p>
        </p:txBody>
      </p:sp>
    </p:spTree>
    <p:extLst>
      <p:ext uri="{BB962C8B-B14F-4D97-AF65-F5344CB8AC3E}">
        <p14:creationId xmlns:p14="http://schemas.microsoft.com/office/powerpoint/2010/main" val="22045601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Skill Extraction</a:t>
            </a:r>
            <a:endParaRPr lang="en-IN" dirty="0"/>
          </a:p>
        </p:txBody>
      </p:sp>
      <p:sp>
        <p:nvSpPr>
          <p:cNvPr id="3" name="Content Placeholder 2"/>
          <p:cNvSpPr>
            <a:spLocks noGrp="1"/>
          </p:cNvSpPr>
          <p:nvPr>
            <p:ph idx="1"/>
          </p:nvPr>
        </p:nvSpPr>
        <p:spPr/>
        <p:txBody>
          <a:bodyPr>
            <a:normAutofit fontScale="92500" lnSpcReduction="20000"/>
          </a:bodyPr>
          <a:lstStyle/>
          <a:p>
            <a:r>
              <a:rPr lang="en-IN" dirty="0" err="1" smtClean="0"/>
              <a:t>skills_list</a:t>
            </a:r>
            <a:r>
              <a:rPr lang="en-IN" dirty="0" smtClean="0"/>
              <a:t> = ["python", "machine learning", "data science", "java", "</a:t>
            </a:r>
            <a:r>
              <a:rPr lang="en-IN" dirty="0" err="1" smtClean="0"/>
              <a:t>sql</a:t>
            </a:r>
            <a:r>
              <a:rPr lang="en-IN" dirty="0" smtClean="0"/>
              <a:t>"]</a:t>
            </a:r>
          </a:p>
          <a:p>
            <a:endParaRPr lang="en-IN" dirty="0" smtClean="0"/>
          </a:p>
          <a:p>
            <a:r>
              <a:rPr lang="en-IN" dirty="0" err="1" smtClean="0"/>
              <a:t>def</a:t>
            </a:r>
            <a:r>
              <a:rPr lang="en-IN" dirty="0" smtClean="0"/>
              <a:t> </a:t>
            </a:r>
            <a:r>
              <a:rPr lang="en-IN" dirty="0" err="1" smtClean="0"/>
              <a:t>extract_skills</a:t>
            </a:r>
            <a:r>
              <a:rPr lang="en-IN" dirty="0" smtClean="0"/>
              <a:t>(text):</a:t>
            </a:r>
          </a:p>
          <a:p>
            <a:r>
              <a:rPr lang="en-IN" dirty="0" smtClean="0"/>
              <a:t>    </a:t>
            </a:r>
            <a:r>
              <a:rPr lang="en-IN" dirty="0" err="1" smtClean="0"/>
              <a:t>found_skills</a:t>
            </a:r>
            <a:r>
              <a:rPr lang="en-IN" dirty="0" smtClean="0"/>
              <a:t> = []</a:t>
            </a:r>
          </a:p>
          <a:p>
            <a:r>
              <a:rPr lang="en-IN" dirty="0" smtClean="0"/>
              <a:t>    </a:t>
            </a:r>
          </a:p>
          <a:p>
            <a:r>
              <a:rPr lang="en-IN" dirty="0" smtClean="0"/>
              <a:t>    for skill in </a:t>
            </a:r>
            <a:r>
              <a:rPr lang="en-IN" dirty="0" err="1" smtClean="0"/>
              <a:t>skills_list</a:t>
            </a:r>
            <a:r>
              <a:rPr lang="en-IN" dirty="0" smtClean="0"/>
              <a:t>:</a:t>
            </a:r>
          </a:p>
          <a:p>
            <a:r>
              <a:rPr lang="en-IN" dirty="0" smtClean="0"/>
              <a:t>        if skill in text:</a:t>
            </a:r>
          </a:p>
          <a:p>
            <a:r>
              <a:rPr lang="en-IN" dirty="0" smtClean="0"/>
              <a:t>            </a:t>
            </a:r>
            <a:r>
              <a:rPr lang="en-IN" dirty="0" err="1" smtClean="0"/>
              <a:t>found_skills.append</a:t>
            </a:r>
            <a:r>
              <a:rPr lang="en-IN" dirty="0" smtClean="0"/>
              <a:t>(skill)</a:t>
            </a:r>
          </a:p>
          <a:p>
            <a:r>
              <a:rPr lang="en-IN" dirty="0" smtClean="0"/>
              <a:t>            </a:t>
            </a:r>
          </a:p>
          <a:p>
            <a:r>
              <a:rPr lang="en-IN" dirty="0" smtClean="0"/>
              <a:t>    return </a:t>
            </a:r>
            <a:r>
              <a:rPr lang="en-IN" dirty="0" err="1" smtClean="0"/>
              <a:t>found_skills</a:t>
            </a:r>
            <a:endParaRPr lang="en-IN" dirty="0"/>
          </a:p>
        </p:txBody>
      </p:sp>
    </p:spTree>
    <p:extLst>
      <p:ext uri="{BB962C8B-B14F-4D97-AF65-F5344CB8AC3E}">
        <p14:creationId xmlns:p14="http://schemas.microsoft.com/office/powerpoint/2010/main" val="20628238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Feature Extraction (TF-IDF)</a:t>
            </a:r>
            <a:endParaRPr lang="en-IN" dirty="0"/>
          </a:p>
        </p:txBody>
      </p:sp>
      <p:sp>
        <p:nvSpPr>
          <p:cNvPr id="3" name="Content Placeholder 2"/>
          <p:cNvSpPr>
            <a:spLocks noGrp="1"/>
          </p:cNvSpPr>
          <p:nvPr>
            <p:ph idx="1"/>
          </p:nvPr>
        </p:nvSpPr>
        <p:spPr/>
        <p:txBody>
          <a:bodyPr>
            <a:normAutofit/>
          </a:bodyPr>
          <a:lstStyle/>
          <a:p>
            <a:r>
              <a:rPr lang="en-IN" dirty="0" smtClean="0"/>
              <a:t>from </a:t>
            </a:r>
            <a:r>
              <a:rPr lang="en-IN" dirty="0" err="1" smtClean="0"/>
              <a:t>sklearn.feature_extraction.text</a:t>
            </a:r>
            <a:r>
              <a:rPr lang="en-IN" dirty="0" smtClean="0"/>
              <a:t> import </a:t>
            </a:r>
            <a:r>
              <a:rPr lang="en-IN" dirty="0" err="1" smtClean="0"/>
              <a:t>TfidfVectorizer</a:t>
            </a:r>
            <a:endParaRPr lang="en-IN" dirty="0" smtClean="0"/>
          </a:p>
          <a:p>
            <a:endParaRPr lang="en-IN" dirty="0" smtClean="0"/>
          </a:p>
          <a:p>
            <a:r>
              <a:rPr lang="en-IN" dirty="0" err="1" smtClean="0"/>
              <a:t>vectorizer</a:t>
            </a:r>
            <a:r>
              <a:rPr lang="en-IN" dirty="0" smtClean="0"/>
              <a:t> = </a:t>
            </a:r>
            <a:r>
              <a:rPr lang="en-IN" dirty="0" err="1" smtClean="0"/>
              <a:t>TfidfVectorizer</a:t>
            </a:r>
            <a:r>
              <a:rPr lang="en-IN" dirty="0" smtClean="0"/>
              <a:t>()</a:t>
            </a:r>
          </a:p>
          <a:p>
            <a:endParaRPr lang="en-IN" dirty="0" smtClean="0"/>
          </a:p>
          <a:p>
            <a:r>
              <a:rPr lang="en-IN" dirty="0" err="1" smtClean="0"/>
              <a:t>def</a:t>
            </a:r>
            <a:r>
              <a:rPr lang="en-IN" dirty="0" smtClean="0"/>
              <a:t> </a:t>
            </a:r>
            <a:r>
              <a:rPr lang="en-IN" dirty="0" err="1" smtClean="0"/>
              <a:t>vectorize_text</a:t>
            </a:r>
            <a:r>
              <a:rPr lang="en-IN" dirty="0" smtClean="0"/>
              <a:t>(resumes):</a:t>
            </a:r>
          </a:p>
          <a:p>
            <a:r>
              <a:rPr lang="en-IN" dirty="0" smtClean="0"/>
              <a:t>    X = </a:t>
            </a:r>
            <a:r>
              <a:rPr lang="en-IN" dirty="0" err="1" smtClean="0"/>
              <a:t>vectorizer.fit_transform</a:t>
            </a:r>
            <a:r>
              <a:rPr lang="en-IN" dirty="0" smtClean="0"/>
              <a:t>(resumes)</a:t>
            </a:r>
          </a:p>
          <a:p>
            <a:r>
              <a:rPr lang="en-IN" dirty="0" smtClean="0"/>
              <a:t>    return X</a:t>
            </a:r>
            <a:endParaRPr lang="en-IN" dirty="0"/>
          </a:p>
        </p:txBody>
      </p:sp>
    </p:spTree>
    <p:extLst>
      <p:ext uri="{BB962C8B-B14F-4D97-AF65-F5344CB8AC3E}">
        <p14:creationId xmlns:p14="http://schemas.microsoft.com/office/powerpoint/2010/main" val="36624217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Model Training</a:t>
            </a:r>
            <a:endParaRPr lang="en-IN" dirty="0"/>
          </a:p>
        </p:txBody>
      </p:sp>
      <p:sp>
        <p:nvSpPr>
          <p:cNvPr id="3" name="Content Placeholder 2"/>
          <p:cNvSpPr>
            <a:spLocks noGrp="1"/>
          </p:cNvSpPr>
          <p:nvPr>
            <p:ph idx="1"/>
          </p:nvPr>
        </p:nvSpPr>
        <p:spPr/>
        <p:txBody>
          <a:bodyPr>
            <a:normAutofit lnSpcReduction="10000"/>
          </a:bodyPr>
          <a:lstStyle/>
          <a:p>
            <a:r>
              <a:rPr lang="en-IN" dirty="0" smtClean="0"/>
              <a:t>from </a:t>
            </a:r>
            <a:r>
              <a:rPr lang="en-IN" dirty="0" err="1" smtClean="0"/>
              <a:t>sklearn.model_selection</a:t>
            </a:r>
            <a:r>
              <a:rPr lang="en-IN" dirty="0" smtClean="0"/>
              <a:t> import </a:t>
            </a:r>
            <a:r>
              <a:rPr lang="en-IN" dirty="0" err="1" smtClean="0"/>
              <a:t>train_test_split</a:t>
            </a:r>
            <a:endParaRPr lang="en-IN" dirty="0" smtClean="0"/>
          </a:p>
          <a:p>
            <a:r>
              <a:rPr lang="en-IN" dirty="0" smtClean="0"/>
              <a:t>from </a:t>
            </a:r>
            <a:r>
              <a:rPr lang="en-IN" dirty="0" err="1" smtClean="0"/>
              <a:t>sklearn.linear_model</a:t>
            </a:r>
            <a:r>
              <a:rPr lang="en-IN" dirty="0" smtClean="0"/>
              <a:t> import </a:t>
            </a:r>
            <a:r>
              <a:rPr lang="en-IN" dirty="0" err="1" smtClean="0"/>
              <a:t>LogisticRegression</a:t>
            </a:r>
            <a:endParaRPr lang="en-IN" dirty="0" smtClean="0"/>
          </a:p>
          <a:p>
            <a:endParaRPr lang="en-IN" dirty="0" smtClean="0"/>
          </a:p>
          <a:p>
            <a:r>
              <a:rPr lang="en-IN" dirty="0" err="1" smtClean="0"/>
              <a:t>X_train</a:t>
            </a:r>
            <a:r>
              <a:rPr lang="en-IN" dirty="0" smtClean="0"/>
              <a:t>, </a:t>
            </a:r>
            <a:r>
              <a:rPr lang="en-IN" dirty="0" err="1" smtClean="0"/>
              <a:t>X_test</a:t>
            </a:r>
            <a:r>
              <a:rPr lang="en-IN" dirty="0" smtClean="0"/>
              <a:t>, </a:t>
            </a:r>
            <a:r>
              <a:rPr lang="en-IN" dirty="0" err="1" smtClean="0"/>
              <a:t>y_train</a:t>
            </a:r>
            <a:r>
              <a:rPr lang="en-IN" dirty="0" smtClean="0"/>
              <a:t>, </a:t>
            </a:r>
            <a:r>
              <a:rPr lang="en-IN" dirty="0" err="1" smtClean="0"/>
              <a:t>y_test</a:t>
            </a:r>
            <a:r>
              <a:rPr lang="en-IN" dirty="0" smtClean="0"/>
              <a:t> = </a:t>
            </a:r>
            <a:r>
              <a:rPr lang="en-IN" dirty="0" err="1" smtClean="0"/>
              <a:t>train_test_split</a:t>
            </a:r>
            <a:r>
              <a:rPr lang="en-IN" dirty="0" smtClean="0"/>
              <a:t>(X, y, </a:t>
            </a:r>
            <a:r>
              <a:rPr lang="en-IN" dirty="0" err="1" smtClean="0"/>
              <a:t>test_size</a:t>
            </a:r>
            <a:r>
              <a:rPr lang="en-IN" dirty="0" smtClean="0"/>
              <a:t>=0.2)</a:t>
            </a:r>
          </a:p>
          <a:p>
            <a:endParaRPr lang="en-IN" dirty="0" smtClean="0"/>
          </a:p>
          <a:p>
            <a:r>
              <a:rPr lang="en-IN" dirty="0" smtClean="0"/>
              <a:t>model = </a:t>
            </a:r>
            <a:r>
              <a:rPr lang="en-IN" dirty="0" err="1" smtClean="0"/>
              <a:t>LogisticRegression</a:t>
            </a:r>
            <a:r>
              <a:rPr lang="en-IN" dirty="0" smtClean="0"/>
              <a:t>()</a:t>
            </a:r>
          </a:p>
          <a:p>
            <a:r>
              <a:rPr lang="en-IN" dirty="0" err="1" smtClean="0"/>
              <a:t>model.fit</a:t>
            </a:r>
            <a:r>
              <a:rPr lang="en-IN" dirty="0" smtClean="0"/>
              <a:t>(</a:t>
            </a:r>
            <a:r>
              <a:rPr lang="en-IN" dirty="0" err="1" smtClean="0"/>
              <a:t>X_train</a:t>
            </a:r>
            <a:r>
              <a:rPr lang="en-IN" dirty="0" smtClean="0"/>
              <a:t>, </a:t>
            </a:r>
            <a:r>
              <a:rPr lang="en-IN" dirty="0" err="1" smtClean="0"/>
              <a:t>y_train</a:t>
            </a:r>
            <a:r>
              <a:rPr lang="en-IN" dirty="0" smtClean="0"/>
              <a:t>)</a:t>
            </a:r>
            <a:endParaRPr lang="en-IN" dirty="0"/>
          </a:p>
        </p:txBody>
      </p:sp>
    </p:spTree>
    <p:extLst>
      <p:ext uri="{BB962C8B-B14F-4D97-AF65-F5344CB8AC3E}">
        <p14:creationId xmlns:p14="http://schemas.microsoft.com/office/powerpoint/2010/main" val="11376118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Resume Matching Score</a:t>
            </a:r>
            <a:endParaRPr lang="en-IN" dirty="0"/>
          </a:p>
        </p:txBody>
      </p:sp>
      <p:sp>
        <p:nvSpPr>
          <p:cNvPr id="3" name="Content Placeholder 2"/>
          <p:cNvSpPr>
            <a:spLocks noGrp="1"/>
          </p:cNvSpPr>
          <p:nvPr>
            <p:ph idx="1"/>
          </p:nvPr>
        </p:nvSpPr>
        <p:spPr/>
        <p:txBody>
          <a:bodyPr>
            <a:normAutofit/>
          </a:bodyPr>
          <a:lstStyle/>
          <a:p>
            <a:r>
              <a:rPr lang="en-IN" dirty="0" smtClean="0"/>
              <a:t>from </a:t>
            </a:r>
            <a:r>
              <a:rPr lang="en-IN" dirty="0" err="1" smtClean="0"/>
              <a:t>sklearn.metrics.pairwise</a:t>
            </a:r>
            <a:r>
              <a:rPr lang="en-IN" dirty="0" smtClean="0"/>
              <a:t> import </a:t>
            </a:r>
            <a:r>
              <a:rPr lang="en-IN" dirty="0" err="1" smtClean="0"/>
              <a:t>cosine_similarity</a:t>
            </a:r>
            <a:endParaRPr lang="en-IN" dirty="0" smtClean="0"/>
          </a:p>
          <a:p>
            <a:endParaRPr lang="en-IN" dirty="0" smtClean="0"/>
          </a:p>
          <a:p>
            <a:r>
              <a:rPr lang="en-IN" dirty="0" err="1" smtClean="0"/>
              <a:t>def</a:t>
            </a:r>
            <a:r>
              <a:rPr lang="en-IN" dirty="0" smtClean="0"/>
              <a:t> </a:t>
            </a:r>
            <a:r>
              <a:rPr lang="en-IN" dirty="0" err="1" smtClean="0"/>
              <a:t>match_score</a:t>
            </a:r>
            <a:r>
              <a:rPr lang="en-IN" dirty="0" smtClean="0"/>
              <a:t>(</a:t>
            </a:r>
            <a:r>
              <a:rPr lang="en-IN" dirty="0" err="1" smtClean="0"/>
              <a:t>job_desc</a:t>
            </a:r>
            <a:r>
              <a:rPr lang="en-IN" dirty="0" smtClean="0"/>
              <a:t>, resume):</a:t>
            </a:r>
          </a:p>
          <a:p>
            <a:r>
              <a:rPr lang="en-IN" dirty="0" smtClean="0"/>
              <a:t>    vectors = </a:t>
            </a:r>
            <a:r>
              <a:rPr lang="en-IN" dirty="0" err="1" smtClean="0"/>
              <a:t>vectorizer.transform</a:t>
            </a:r>
            <a:r>
              <a:rPr lang="en-IN" dirty="0" smtClean="0"/>
              <a:t>([</a:t>
            </a:r>
            <a:r>
              <a:rPr lang="en-IN" dirty="0" err="1" smtClean="0"/>
              <a:t>job_desc</a:t>
            </a:r>
            <a:r>
              <a:rPr lang="en-IN" dirty="0" smtClean="0"/>
              <a:t>, resume])</a:t>
            </a:r>
          </a:p>
          <a:p>
            <a:r>
              <a:rPr lang="en-IN" dirty="0" smtClean="0"/>
              <a:t>    score = </a:t>
            </a:r>
            <a:r>
              <a:rPr lang="en-IN" dirty="0" err="1" smtClean="0"/>
              <a:t>cosine_similarity</a:t>
            </a:r>
            <a:r>
              <a:rPr lang="en-IN" dirty="0" smtClean="0"/>
              <a:t>(vectors[0], vectors[1])</a:t>
            </a:r>
          </a:p>
          <a:p>
            <a:r>
              <a:rPr lang="en-IN" dirty="0" smtClean="0"/>
              <a:t>    return score[0][0]</a:t>
            </a:r>
            <a:endParaRPr lang="en-IN" dirty="0"/>
          </a:p>
        </p:txBody>
      </p:sp>
    </p:spTree>
    <p:extLst>
      <p:ext uri="{BB962C8B-B14F-4D97-AF65-F5344CB8AC3E}">
        <p14:creationId xmlns:p14="http://schemas.microsoft.com/office/powerpoint/2010/main" val="41935562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Candidate Ranking</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candidates = [</a:t>
            </a:r>
          </a:p>
          <a:p>
            <a:r>
              <a:rPr lang="en-US" dirty="0" smtClean="0"/>
              <a:t>    {"name": "A", "score": 0.85},</a:t>
            </a:r>
          </a:p>
          <a:p>
            <a:r>
              <a:rPr lang="en-US" dirty="0" smtClean="0"/>
              <a:t>    {"name": "B", "score": 0.65},</a:t>
            </a:r>
          </a:p>
          <a:p>
            <a:r>
              <a:rPr lang="en-US" dirty="0" smtClean="0"/>
              <a:t>    {"name": "C", "score": 0.92}</a:t>
            </a:r>
          </a:p>
          <a:p>
            <a:r>
              <a:rPr lang="en-US" dirty="0" smtClean="0"/>
              <a:t>]</a:t>
            </a:r>
          </a:p>
          <a:p>
            <a:endParaRPr lang="en-US" dirty="0" smtClean="0"/>
          </a:p>
          <a:p>
            <a:r>
              <a:rPr lang="en-US" dirty="0" smtClean="0"/>
              <a:t>ranked = sorted(candidates, key=lambda x: x['score'], reverse=True)</a:t>
            </a:r>
          </a:p>
          <a:p>
            <a:endParaRPr lang="en-US" dirty="0" smtClean="0"/>
          </a:p>
          <a:p>
            <a:r>
              <a:rPr lang="en-US" dirty="0" smtClean="0"/>
              <a:t>for c in ranked:</a:t>
            </a:r>
          </a:p>
          <a:p>
            <a:r>
              <a:rPr lang="en-US" dirty="0" smtClean="0"/>
              <a:t>    print(c)</a:t>
            </a:r>
            <a:endParaRPr lang="en-IN" dirty="0"/>
          </a:p>
        </p:txBody>
      </p:sp>
    </p:spTree>
    <p:extLst>
      <p:ext uri="{BB962C8B-B14F-4D97-AF65-F5344CB8AC3E}">
        <p14:creationId xmlns:p14="http://schemas.microsoft.com/office/powerpoint/2010/main" val="36346162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Output Example</a:t>
            </a:r>
            <a:endParaRPr lang="en-IN" dirty="0"/>
          </a:p>
        </p:txBody>
      </p:sp>
      <p:sp>
        <p:nvSpPr>
          <p:cNvPr id="3" name="Content Placeholder 2"/>
          <p:cNvSpPr>
            <a:spLocks noGrp="1"/>
          </p:cNvSpPr>
          <p:nvPr>
            <p:ph idx="1"/>
          </p:nvPr>
        </p:nvSpPr>
        <p:spPr/>
        <p:txBody>
          <a:bodyPr/>
          <a:lstStyle/>
          <a:p>
            <a:r>
              <a:rPr lang="en-IN" dirty="0" smtClean="0"/>
              <a:t>Resume 1 → Score: 0.92  </a:t>
            </a:r>
          </a:p>
          <a:p>
            <a:r>
              <a:rPr lang="en-IN" dirty="0" smtClean="0"/>
              <a:t>Resume 2 → Score: 0.85  </a:t>
            </a:r>
          </a:p>
          <a:p>
            <a:r>
              <a:rPr lang="en-IN" dirty="0" smtClean="0"/>
              <a:t>Resume 3 → Score: 0.65 </a:t>
            </a:r>
            <a:endParaRPr lang="en-IN" dirty="0"/>
          </a:p>
        </p:txBody>
      </p:sp>
    </p:spTree>
    <p:extLst>
      <p:ext uri="{BB962C8B-B14F-4D97-AF65-F5344CB8AC3E}">
        <p14:creationId xmlns:p14="http://schemas.microsoft.com/office/powerpoint/2010/main" val="7221487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References</a:t>
            </a:r>
            <a:endParaRPr lang="en-IN" dirty="0"/>
          </a:p>
        </p:txBody>
      </p:sp>
      <p:sp>
        <p:nvSpPr>
          <p:cNvPr id="3" name="Content Placeholder 2"/>
          <p:cNvSpPr>
            <a:spLocks noGrp="1"/>
          </p:cNvSpPr>
          <p:nvPr>
            <p:ph idx="1"/>
          </p:nvPr>
        </p:nvSpPr>
        <p:spPr/>
        <p:txBody>
          <a:bodyPr/>
          <a:lstStyle/>
          <a:p>
            <a:r>
              <a:rPr lang="en-US" dirty="0" smtClean="0"/>
              <a:t>Research papers on AI in recruitment </a:t>
            </a:r>
          </a:p>
          <a:p>
            <a:r>
              <a:rPr lang="en-US" dirty="0" smtClean="0"/>
              <a:t>NLP documentation </a:t>
            </a:r>
          </a:p>
          <a:p>
            <a:r>
              <a:rPr lang="en-US" dirty="0" smtClean="0"/>
              <a:t>Machine learning resources</a:t>
            </a:r>
            <a:endParaRPr lang="en-IN" dirty="0"/>
          </a:p>
        </p:txBody>
      </p:sp>
    </p:spTree>
    <p:extLst>
      <p:ext uri="{BB962C8B-B14F-4D97-AF65-F5344CB8AC3E}">
        <p14:creationId xmlns:p14="http://schemas.microsoft.com/office/powerpoint/2010/main" val="387479655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Urban">
  <a:themeElements>
    <a:clrScheme name="Urban">
      <a:dk1>
        <a:sysClr val="windowText" lastClr="000000"/>
      </a:dk1>
      <a:lt1>
        <a:sysClr val="window" lastClr="FFFFFF"/>
      </a:lt1>
      <a:dk2>
        <a:srgbClr val="424456"/>
      </a:dk2>
      <a:lt2>
        <a:srgbClr val="DEDEDE"/>
      </a:lt2>
      <a:accent1>
        <a:srgbClr val="53548A"/>
      </a:accent1>
      <a:accent2>
        <a:srgbClr val="438086"/>
      </a:accent2>
      <a:accent3>
        <a:srgbClr val="A04DA3"/>
      </a:accent3>
      <a:accent4>
        <a:srgbClr val="C4652D"/>
      </a:accent4>
      <a:accent5>
        <a:srgbClr val="8B5D3D"/>
      </a:accent5>
      <a:accent6>
        <a:srgbClr val="5C92B5"/>
      </a:accent6>
      <a:hlink>
        <a:srgbClr val="67AFBD"/>
      </a:hlink>
      <a:folHlink>
        <a:srgbClr val="C2A874"/>
      </a:folHlink>
    </a:clrScheme>
    <a:fontScheme name="Urban">
      <a:majorFont>
        <a:latin typeface="Trebuchet MS"/>
        <a:ea typeface=""/>
        <a:cs typeface=""/>
        <a:font script="Jpan" typeface="HGｺﾞｼｯｸM"/>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eorgia"/>
        <a:ea typeface=""/>
        <a:cs typeface=""/>
        <a:font script="Jpan" typeface="HG明朝B"/>
        <a:font script="Hang" typeface="맑은 고딕"/>
        <a:font script="Hans" typeface="宋体"/>
        <a:font script="Hant" typeface="新細明體"/>
        <a:font script="Arab" typeface="Arial"/>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Urban">
      <a:fillStyleLst>
        <a:solidFill>
          <a:schemeClr val="phClr"/>
        </a:solidFill>
        <a:gradFill rotWithShape="1">
          <a:gsLst>
            <a:gs pos="0">
              <a:schemeClr val="phClr">
                <a:tint val="1000"/>
                <a:satMod val="255000"/>
              </a:schemeClr>
            </a:gs>
            <a:gs pos="55000">
              <a:schemeClr val="phClr">
                <a:tint val="12000"/>
                <a:satMod val="255000"/>
              </a:schemeClr>
            </a:gs>
            <a:gs pos="100000">
              <a:schemeClr val="phClr">
                <a:tint val="45000"/>
                <a:satMod val="250000"/>
              </a:schemeClr>
            </a:gs>
          </a:gsLst>
          <a:path path="circle">
            <a:fillToRect l="-40000" t="-90000" r="140000" b="190000"/>
          </a:path>
        </a:gradFill>
        <a:gradFill rotWithShape="1">
          <a:gsLst>
            <a:gs pos="0">
              <a:schemeClr val="phClr">
                <a:tint val="43000"/>
                <a:satMod val="165000"/>
              </a:schemeClr>
            </a:gs>
            <a:gs pos="55000">
              <a:schemeClr val="phClr">
                <a:tint val="83000"/>
                <a:satMod val="155000"/>
              </a:schemeClr>
            </a:gs>
            <a:gs pos="100000">
              <a:schemeClr val="phClr">
                <a:shade val="85000"/>
              </a:schemeClr>
            </a:gs>
          </a:gsLst>
          <a:path path="circle">
            <a:fillToRect l="-40000" t="-90000" r="140000" b="190000"/>
          </a:path>
        </a:gradFill>
      </a:fillStyleLst>
      <a:lnStyleLst>
        <a:ln w="9525" cap="flat" cmpd="sng" algn="ctr">
          <a:solidFill>
            <a:schemeClr val="phClr"/>
          </a:solidFill>
          <a:prstDash val="solid"/>
        </a:ln>
        <a:ln w="19050" cap="flat" cmpd="sng" algn="ctr">
          <a:solidFill>
            <a:schemeClr val="phClr"/>
          </a:solidFill>
          <a:prstDash val="solid"/>
        </a:ln>
        <a:ln w="31750" cap="flat" cmpd="sng" algn="ctr">
          <a:solidFill>
            <a:schemeClr val="phClr"/>
          </a:solidFill>
          <a:prstDash val="solid"/>
        </a:ln>
      </a:lnStyleLst>
      <a:effectStyleLst>
        <a:effectStyle>
          <a:effectLst>
            <a:outerShdw blurRad="51500" dist="25400" dir="5400000" rotWithShape="0">
              <a:srgbClr val="000000">
                <a:alpha val="40000"/>
              </a:srgbClr>
            </a:outerShdw>
          </a:effectLst>
        </a:effectStyle>
        <a:effectStyle>
          <a:effectLst>
            <a:outerShdw blurRad="50800" dist="25400" dir="5400000" rotWithShape="0">
              <a:srgbClr val="000000">
                <a:alpha val="4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flat" dir="t">
              <a:rot lat="0" lon="0" rev="20040000"/>
            </a:lightRig>
          </a:scene3d>
          <a:sp3d contourW="12700" prstMaterial="dkEdge">
            <a:bevelT w="25400" h="38100" prst="convex"/>
            <a:contourClr>
              <a:schemeClr val="phClr">
                <a:satMod val="115000"/>
              </a:schemeClr>
            </a:contourClr>
          </a:sp3d>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Urban</Template>
  <TotalTime>22</TotalTime>
  <Words>1158</Words>
  <Application>Microsoft Office PowerPoint</Application>
  <PresentationFormat>On-screen Show (4:3)</PresentationFormat>
  <Paragraphs>249</Paragraphs>
  <Slides>35</Slides>
  <Notes>0</Notes>
  <HiddenSlides>0</HiddenSlides>
  <MMClips>0</MMClips>
  <ScaleCrop>false</ScaleCrop>
  <HeadingPairs>
    <vt:vector size="4" baseType="variant">
      <vt:variant>
        <vt:lpstr>Theme</vt:lpstr>
      </vt:variant>
      <vt:variant>
        <vt:i4>1</vt:i4>
      </vt:variant>
      <vt:variant>
        <vt:lpstr>Slide Titles</vt:lpstr>
      </vt:variant>
      <vt:variant>
        <vt:i4>35</vt:i4>
      </vt:variant>
    </vt:vector>
  </HeadingPairs>
  <TitlesOfParts>
    <vt:vector size="36" baseType="lpstr">
      <vt:lpstr>Urban</vt:lpstr>
      <vt:lpstr>AI-Based Recruitment and Resume Screening Application</vt:lpstr>
      <vt:lpstr>Introduction</vt:lpstr>
      <vt:lpstr>Problem Statement</vt:lpstr>
      <vt:lpstr>Objectives</vt:lpstr>
      <vt:lpstr>Proposed Solution</vt:lpstr>
      <vt:lpstr>System Architecture</vt:lpstr>
      <vt:lpstr>Technologies Used</vt:lpstr>
      <vt:lpstr>Data Collection</vt:lpstr>
      <vt:lpstr>Data Preprocessing</vt:lpstr>
      <vt:lpstr>Resume Parsing</vt:lpstr>
      <vt:lpstr>System Architecture</vt:lpstr>
      <vt:lpstr>Technologies Used</vt:lpstr>
      <vt:lpstr>Algorithm Used</vt:lpstr>
      <vt:lpstr>Advantages</vt:lpstr>
      <vt:lpstr>Limitations</vt:lpstr>
      <vt:lpstr>Future Scope</vt:lpstr>
      <vt:lpstr>Simple Skill Extraction</vt:lpstr>
      <vt:lpstr>Feature Extraction</vt:lpstr>
      <vt:lpstr>Machine Learning Model</vt:lpstr>
      <vt:lpstr>Candidate Ranking</vt:lpstr>
      <vt:lpstr>Workflow</vt:lpstr>
      <vt:lpstr>Advantages</vt:lpstr>
      <vt:lpstr>Limitations</vt:lpstr>
      <vt:lpstr>Applications</vt:lpstr>
      <vt:lpstr>Future Scope</vt:lpstr>
      <vt:lpstr>Conclusion</vt:lpstr>
      <vt:lpstr>Resume Upload &amp; Text Extraction</vt:lpstr>
      <vt:lpstr>Data Preprocessing</vt:lpstr>
      <vt:lpstr>Skill Extraction</vt:lpstr>
      <vt:lpstr>Feature Extraction (TF-IDF)</vt:lpstr>
      <vt:lpstr>Model Training</vt:lpstr>
      <vt:lpstr>Resume Matching Score</vt:lpstr>
      <vt:lpstr>Candidate Ranking</vt:lpstr>
      <vt:lpstr>Output Example</vt:lpstr>
      <vt:lpstr>References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AI-Based Recruitment and Resume Screening Application</dc:title>
  <dc:creator>hp</dc:creator>
  <cp:lastModifiedBy>hp</cp:lastModifiedBy>
  <cp:revision>7</cp:revision>
  <dcterms:created xsi:type="dcterms:W3CDTF">2026-04-19T07:47:04Z</dcterms:created>
  <dcterms:modified xsi:type="dcterms:W3CDTF">2026-04-19T08:13:59Z</dcterms:modified>
</cp:coreProperties>
</file>